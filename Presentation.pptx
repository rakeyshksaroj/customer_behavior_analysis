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373A4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52576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373A4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52576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373A4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373A4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67487" y="822717"/>
            <a:ext cx="4482465" cy="70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373A4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1089" y="2591993"/>
            <a:ext cx="11543030" cy="4437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52576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81089" y="950943"/>
            <a:ext cx="4923790" cy="5629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11150"/>
              </a:lnSpc>
            </a:pPr>
            <a:r>
              <a:rPr dirty="0" sz="8900" spc="-10">
                <a:solidFill>
                  <a:srgbClr val="373A47"/>
                </a:solidFill>
                <a:latin typeface="Arial"/>
                <a:cs typeface="Arial"/>
              </a:rPr>
              <a:t>Customer Shopping Behavior Analysis</a:t>
            </a:r>
            <a:endParaRPr sz="89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1089" y="7016572"/>
            <a:ext cx="685482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Uncovering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insights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from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3,900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purchases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drive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strategic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decisions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4550" algn="l"/>
              </a:tabLst>
            </a:pPr>
            <a:r>
              <a:rPr dirty="0" spc="-10"/>
              <a:t>Dataset</a:t>
            </a:r>
            <a:r>
              <a:rPr dirty="0"/>
              <a:t>	</a:t>
            </a:r>
            <a:r>
              <a:rPr dirty="0" spc="-10"/>
              <a:t>Overview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320743" y="1833371"/>
            <a:ext cx="2247900" cy="2404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5850" spc="-10">
                <a:solidFill>
                  <a:srgbClr val="52576B"/>
                </a:solidFill>
                <a:latin typeface="Arial"/>
                <a:cs typeface="Arial"/>
              </a:rPr>
              <a:t>3,900</a:t>
            </a:r>
            <a:endParaRPr sz="585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  <a:spcBef>
                <a:spcPts val="2245"/>
              </a:spcBef>
            </a:pPr>
            <a:r>
              <a:rPr dirty="0" sz="2200">
                <a:solidFill>
                  <a:srgbClr val="52576B"/>
                </a:solidFill>
                <a:latin typeface="Arial"/>
                <a:cs typeface="Arial"/>
              </a:rPr>
              <a:t>Total</a:t>
            </a:r>
            <a:r>
              <a:rPr dirty="0" sz="220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2576B"/>
                </a:solidFill>
                <a:latin typeface="Arial"/>
                <a:cs typeface="Arial"/>
              </a:rPr>
              <a:t>Purchases</a:t>
            </a:r>
            <a:endParaRPr sz="2200">
              <a:latin typeface="Arial"/>
              <a:cs typeface="Arial"/>
            </a:endParaRPr>
          </a:p>
          <a:p>
            <a:pPr algn="ctr" marL="12700" marR="5080">
              <a:lnSpc>
                <a:spcPct val="135700"/>
              </a:lnSpc>
              <a:spcBef>
                <a:spcPts val="1120"/>
              </a:spcBef>
            </a:pP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Transactions</a:t>
            </a:r>
            <a:r>
              <a:rPr dirty="0" sz="17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analyzed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across</a:t>
            </a:r>
            <a:r>
              <a:rPr dirty="0" sz="17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all</a:t>
            </a:r>
            <a:r>
              <a:rPr dirty="0" sz="17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categories</a:t>
            </a:r>
            <a:endParaRPr sz="17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84615" y="1833371"/>
            <a:ext cx="2347595" cy="2766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5850" spc="-25">
                <a:solidFill>
                  <a:srgbClr val="52576B"/>
                </a:solidFill>
                <a:latin typeface="Arial"/>
                <a:cs typeface="Arial"/>
              </a:rPr>
              <a:t>18</a:t>
            </a:r>
            <a:endParaRPr sz="5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45"/>
              </a:spcBef>
            </a:pPr>
            <a:r>
              <a:rPr dirty="0" sz="2200">
                <a:solidFill>
                  <a:srgbClr val="52576B"/>
                </a:solidFill>
                <a:latin typeface="Arial"/>
                <a:cs typeface="Arial"/>
              </a:rPr>
              <a:t>Data</a:t>
            </a:r>
            <a:r>
              <a:rPr dirty="0" sz="220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2576B"/>
                </a:solidFill>
                <a:latin typeface="Arial"/>
                <a:cs typeface="Arial"/>
              </a:rPr>
              <a:t>Columns</a:t>
            </a:r>
            <a:endParaRPr sz="2200">
              <a:latin typeface="Arial"/>
              <a:cs typeface="Arial"/>
            </a:endParaRPr>
          </a:p>
          <a:p>
            <a:pPr algn="ctr" marL="12700" marR="5080">
              <a:lnSpc>
                <a:spcPct val="135700"/>
              </a:lnSpc>
              <a:spcBef>
                <a:spcPts val="1120"/>
              </a:spcBef>
            </a:pP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Comprehensive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customer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purchase attributes</a:t>
            </a:r>
            <a:endParaRPr sz="17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528905" y="1833371"/>
            <a:ext cx="2284730" cy="2404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5850" spc="-25">
                <a:solidFill>
                  <a:srgbClr val="52576B"/>
                </a:solidFill>
                <a:latin typeface="Arial"/>
                <a:cs typeface="Arial"/>
              </a:rPr>
              <a:t>50</a:t>
            </a:r>
            <a:endParaRPr sz="5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45"/>
              </a:spcBef>
            </a:pPr>
            <a:r>
              <a:rPr dirty="0" sz="2200" spc="-10">
                <a:solidFill>
                  <a:srgbClr val="52576B"/>
                </a:solidFill>
                <a:latin typeface="Arial"/>
                <a:cs typeface="Arial"/>
              </a:rPr>
              <a:t>Locations</a:t>
            </a:r>
            <a:endParaRPr sz="2200">
              <a:latin typeface="Arial"/>
              <a:cs typeface="Arial"/>
            </a:endParaRPr>
          </a:p>
          <a:p>
            <a:pPr algn="ctr" marL="12700" marR="5080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Geographic</a:t>
            </a:r>
            <a:r>
              <a:rPr dirty="0" sz="1750" spc="-9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diversity</a:t>
            </a:r>
            <a:r>
              <a:rPr dirty="0" sz="1750" spc="-9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52576B"/>
                </a:solidFill>
                <a:latin typeface="Arial"/>
                <a:cs typeface="Arial"/>
              </a:rPr>
              <a:t>in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customer</a:t>
            </a:r>
            <a:r>
              <a:rPr dirty="0" sz="1750" spc="-9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52576B"/>
                </a:solidFill>
                <a:latin typeface="Arial"/>
                <a:cs typeface="Arial"/>
              </a:rPr>
              <a:t>base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039202" y="5011267"/>
            <a:ext cx="2038985" cy="2404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5850" spc="-25">
                <a:solidFill>
                  <a:srgbClr val="52576B"/>
                </a:solidFill>
                <a:latin typeface="Arial"/>
                <a:cs typeface="Arial"/>
              </a:rPr>
              <a:t>25</a:t>
            </a:r>
            <a:endParaRPr sz="5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45"/>
              </a:spcBef>
            </a:pPr>
            <a:r>
              <a:rPr dirty="0" sz="2200" spc="-10">
                <a:solidFill>
                  <a:srgbClr val="52576B"/>
                </a:solidFill>
                <a:latin typeface="Arial"/>
                <a:cs typeface="Arial"/>
              </a:rPr>
              <a:t>Products</a:t>
            </a:r>
            <a:endParaRPr sz="2200">
              <a:latin typeface="Arial"/>
              <a:cs typeface="Arial"/>
            </a:endParaRPr>
          </a:p>
          <a:p>
            <a:pPr algn="ctr" marL="12700" marR="5080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Unique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items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across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four</a:t>
            </a:r>
            <a:r>
              <a:rPr dirty="0" sz="17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categories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089" y="1506613"/>
            <a:ext cx="6461760" cy="703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62075" algn="l"/>
                <a:tab pos="4438015" algn="l"/>
              </a:tabLst>
            </a:pPr>
            <a:r>
              <a:rPr dirty="0" spc="-20"/>
              <a:t>Data</a:t>
            </a:r>
            <a:r>
              <a:rPr dirty="0"/>
              <a:t>	</a:t>
            </a:r>
            <a:r>
              <a:rPr dirty="0" spc="-10"/>
              <a:t>Preparation</a:t>
            </a:r>
            <a:r>
              <a:rPr dirty="0"/>
              <a:t>	</a:t>
            </a:r>
            <a:r>
              <a:rPr dirty="0" spc="-10"/>
              <a:t>Journey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1089" y="2601540"/>
            <a:ext cx="6433820" cy="3959860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  <a:tabLst>
                <a:tab pos="6420485" algn="l"/>
              </a:tabLst>
            </a:pPr>
            <a:r>
              <a:rPr dirty="0" u="heavy" sz="1750" spc="-25">
                <a:solidFill>
                  <a:srgbClr val="52576B"/>
                </a:solidFill>
                <a:uFill>
                  <a:solidFill>
                    <a:srgbClr val="373A47"/>
                  </a:solidFill>
                </a:uFill>
                <a:latin typeface="Arial"/>
                <a:cs typeface="Arial"/>
              </a:rPr>
              <a:t>01</a:t>
            </a:r>
            <a:r>
              <a:rPr dirty="0" u="heavy" sz="1750">
                <a:solidFill>
                  <a:srgbClr val="52576B"/>
                </a:solidFill>
                <a:uFill>
                  <a:solidFill>
                    <a:srgbClr val="373A47"/>
                  </a:solidFill>
                </a:uFill>
                <a:latin typeface="Arial"/>
                <a:cs typeface="Arial"/>
              </a:rPr>
              <a:t>	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2200">
                <a:solidFill>
                  <a:srgbClr val="52576B"/>
                </a:solidFill>
                <a:latin typeface="Arial"/>
                <a:cs typeface="Arial"/>
              </a:rPr>
              <a:t>Data</a:t>
            </a:r>
            <a:r>
              <a:rPr dirty="0" sz="220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52576B"/>
                </a:solidFill>
                <a:latin typeface="Arial"/>
                <a:cs typeface="Arial"/>
              </a:rPr>
              <a:t>Loading</a:t>
            </a:r>
            <a:r>
              <a:rPr dirty="0" sz="220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52576B"/>
                </a:solidFill>
                <a:latin typeface="Arial"/>
                <a:cs typeface="Arial"/>
              </a:rPr>
              <a:t>&amp;</a:t>
            </a:r>
            <a:r>
              <a:rPr dirty="0" sz="220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2576B"/>
                </a:solidFill>
                <a:latin typeface="Arial"/>
                <a:cs typeface="Arial"/>
              </a:rPr>
              <a:t>Exploration</a:t>
            </a:r>
            <a:endParaRPr sz="2200">
              <a:latin typeface="Arial"/>
              <a:cs typeface="Arial"/>
            </a:endParaRPr>
          </a:p>
          <a:p>
            <a:pPr marL="12700" marR="154305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Imported</a:t>
            </a:r>
            <a:r>
              <a:rPr dirty="0" sz="1750" spc="-8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dataset</a:t>
            </a:r>
            <a:r>
              <a:rPr dirty="0" sz="1750" spc="-8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using</a:t>
            </a:r>
            <a:r>
              <a:rPr dirty="0" sz="1750" spc="-8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pandas,</a:t>
            </a:r>
            <a:r>
              <a:rPr dirty="0" sz="1750" spc="-8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analyzed</a:t>
            </a:r>
            <a:r>
              <a:rPr dirty="0" sz="1750" spc="-8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structure</a:t>
            </a:r>
            <a:r>
              <a:rPr dirty="0" sz="1750" spc="-7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with</a:t>
            </a:r>
            <a:r>
              <a:rPr dirty="0" sz="1750" spc="-8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df.info()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summary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statistics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6420485" algn="l"/>
              </a:tabLst>
            </a:pPr>
            <a:r>
              <a:rPr dirty="0" u="heavy" sz="1750" spc="-25">
                <a:solidFill>
                  <a:srgbClr val="52576B"/>
                </a:solidFill>
                <a:uFill>
                  <a:solidFill>
                    <a:srgbClr val="373A47"/>
                  </a:solidFill>
                </a:uFill>
                <a:latin typeface="Arial"/>
                <a:cs typeface="Arial"/>
              </a:rPr>
              <a:t>03</a:t>
            </a:r>
            <a:r>
              <a:rPr dirty="0" u="heavy" sz="1750">
                <a:solidFill>
                  <a:srgbClr val="52576B"/>
                </a:solidFill>
                <a:uFill>
                  <a:solidFill>
                    <a:srgbClr val="373A47"/>
                  </a:solidFill>
                </a:uFill>
                <a:latin typeface="Arial"/>
                <a:cs typeface="Arial"/>
              </a:rPr>
              <a:t>	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2200">
                <a:solidFill>
                  <a:srgbClr val="52576B"/>
                </a:solidFill>
                <a:latin typeface="Arial"/>
                <a:cs typeface="Arial"/>
              </a:rPr>
              <a:t>Feature</a:t>
            </a:r>
            <a:r>
              <a:rPr dirty="0" sz="2200" spc="-10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2576B"/>
                </a:solidFill>
                <a:latin typeface="Arial"/>
                <a:cs typeface="Arial"/>
              </a:rPr>
              <a:t>Engineering</a:t>
            </a:r>
            <a:endParaRPr sz="2200">
              <a:latin typeface="Arial"/>
              <a:cs typeface="Arial"/>
            </a:endParaRPr>
          </a:p>
          <a:p>
            <a:pPr marL="12700" marR="40005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Created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age_group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bins</a:t>
            </a:r>
            <a:r>
              <a:rPr dirty="0" sz="17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purchase_frequency_days</a:t>
            </a:r>
            <a:r>
              <a:rPr dirty="0" sz="17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columns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for</a:t>
            </a:r>
            <a:r>
              <a:rPr dirty="0" sz="17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deeper</a:t>
            </a:r>
            <a:r>
              <a:rPr dirty="0" sz="17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analysis</a:t>
            </a:r>
            <a:endParaRPr sz="17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15847" y="2601540"/>
            <a:ext cx="6433820" cy="3959860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  <a:tabLst>
                <a:tab pos="6420485" algn="l"/>
              </a:tabLst>
            </a:pPr>
            <a:r>
              <a:rPr dirty="0" u="heavy" sz="1750" spc="-25">
                <a:solidFill>
                  <a:srgbClr val="52576B"/>
                </a:solidFill>
                <a:uFill>
                  <a:solidFill>
                    <a:srgbClr val="373A47"/>
                  </a:solidFill>
                </a:uFill>
                <a:latin typeface="Arial"/>
                <a:cs typeface="Arial"/>
              </a:rPr>
              <a:t>02</a:t>
            </a:r>
            <a:r>
              <a:rPr dirty="0" u="heavy" sz="1750">
                <a:solidFill>
                  <a:srgbClr val="52576B"/>
                </a:solidFill>
                <a:uFill>
                  <a:solidFill>
                    <a:srgbClr val="373A47"/>
                  </a:solidFill>
                </a:uFill>
                <a:latin typeface="Arial"/>
                <a:cs typeface="Arial"/>
              </a:rPr>
              <a:t>	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2200">
                <a:solidFill>
                  <a:srgbClr val="52576B"/>
                </a:solidFill>
                <a:latin typeface="Arial"/>
                <a:cs typeface="Arial"/>
              </a:rPr>
              <a:t>Missing</a:t>
            </a:r>
            <a:r>
              <a:rPr dirty="0" sz="2200" spc="-8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52576B"/>
                </a:solidFill>
                <a:latin typeface="Arial"/>
                <a:cs typeface="Arial"/>
              </a:rPr>
              <a:t>Data</a:t>
            </a:r>
            <a:r>
              <a:rPr dirty="0" sz="2200" spc="-8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2576B"/>
                </a:solidFill>
                <a:latin typeface="Arial"/>
                <a:cs typeface="Arial"/>
              </a:rPr>
              <a:t>Handling</a:t>
            </a:r>
            <a:endParaRPr sz="2200">
              <a:latin typeface="Arial"/>
              <a:cs typeface="Arial"/>
            </a:endParaRPr>
          </a:p>
          <a:p>
            <a:pPr marL="12700" marR="287655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Imputed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37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missing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Review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Rating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values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using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median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rating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per</a:t>
            </a:r>
            <a:r>
              <a:rPr dirty="0" sz="17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category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6420485" algn="l"/>
              </a:tabLst>
            </a:pPr>
            <a:r>
              <a:rPr dirty="0" u="heavy" sz="1750" spc="-25">
                <a:solidFill>
                  <a:srgbClr val="52576B"/>
                </a:solidFill>
                <a:uFill>
                  <a:solidFill>
                    <a:srgbClr val="373A47"/>
                  </a:solidFill>
                </a:uFill>
                <a:latin typeface="Arial"/>
                <a:cs typeface="Arial"/>
              </a:rPr>
              <a:t>04</a:t>
            </a:r>
            <a:r>
              <a:rPr dirty="0" u="heavy" sz="1750">
                <a:solidFill>
                  <a:srgbClr val="52576B"/>
                </a:solidFill>
                <a:uFill>
                  <a:solidFill>
                    <a:srgbClr val="373A47"/>
                  </a:solidFill>
                </a:uFill>
                <a:latin typeface="Arial"/>
                <a:cs typeface="Arial"/>
              </a:rPr>
              <a:t>	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2200">
                <a:solidFill>
                  <a:srgbClr val="52576B"/>
                </a:solidFill>
                <a:latin typeface="Arial"/>
                <a:cs typeface="Arial"/>
              </a:rPr>
              <a:t>Database</a:t>
            </a:r>
            <a:r>
              <a:rPr dirty="0" sz="2200" spc="-1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2576B"/>
                </a:solidFill>
                <a:latin typeface="Arial"/>
                <a:cs typeface="Arial"/>
              </a:rPr>
              <a:t>Integration</a:t>
            </a:r>
            <a:endParaRPr sz="2200">
              <a:latin typeface="Arial"/>
              <a:cs typeface="Arial"/>
            </a:endParaRPr>
          </a:p>
          <a:p>
            <a:pPr marL="12700" marR="497205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Connected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PostgreSQL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loaded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cleaned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data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for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52576B"/>
                </a:solidFill>
                <a:latin typeface="Arial"/>
                <a:cs typeface="Arial"/>
              </a:rPr>
              <a:t>SQL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analysis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089" y="1208003"/>
            <a:ext cx="5083175" cy="703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30780" algn="l"/>
                <a:tab pos="3185160" algn="l"/>
              </a:tabLst>
            </a:pPr>
            <a:r>
              <a:rPr dirty="0" spc="-10"/>
              <a:t>Revenue</a:t>
            </a:r>
            <a:r>
              <a:rPr dirty="0"/>
              <a:t>	</a:t>
            </a:r>
            <a:r>
              <a:rPr dirty="0" spc="-25"/>
              <a:t>by</a:t>
            </a:r>
            <a:r>
              <a:rPr dirty="0"/>
              <a:t>	</a:t>
            </a:r>
            <a:r>
              <a:rPr dirty="0" spc="-10"/>
              <a:t>Gender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93789" y="2510078"/>
            <a:ext cx="7604759" cy="4258945"/>
            <a:chOff x="793789" y="2510078"/>
            <a:chExt cx="7604759" cy="425894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89" y="2510078"/>
              <a:ext cx="7604290" cy="400109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9629" y="6541655"/>
              <a:ext cx="226813" cy="22680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4014711" y="6487998"/>
            <a:ext cx="50736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0">
                <a:solidFill>
                  <a:srgbClr val="52576B"/>
                </a:solidFill>
                <a:latin typeface="Arial"/>
                <a:cs typeface="Arial"/>
              </a:rPr>
              <a:t>Male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72126" y="6541655"/>
            <a:ext cx="226813" cy="22680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4947208" y="6487998"/>
            <a:ext cx="76644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Female</a:t>
            </a:r>
            <a:endParaRPr sz="17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946400" y="2477173"/>
            <a:ext cx="4363085" cy="84836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80"/>
              </a:spcBef>
            </a:pPr>
            <a:r>
              <a:rPr dirty="0" sz="2650">
                <a:solidFill>
                  <a:srgbClr val="373A47"/>
                </a:solidFill>
                <a:latin typeface="Arial"/>
                <a:cs typeface="Arial"/>
              </a:rPr>
              <a:t>Male</a:t>
            </a:r>
            <a:r>
              <a:rPr dirty="0" sz="2650" spc="-90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2650">
                <a:solidFill>
                  <a:srgbClr val="373A47"/>
                </a:solidFill>
                <a:latin typeface="Arial"/>
                <a:cs typeface="Arial"/>
              </a:rPr>
              <a:t>customers</a:t>
            </a:r>
            <a:r>
              <a:rPr dirty="0" sz="2650" spc="-90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2650">
                <a:solidFill>
                  <a:srgbClr val="373A47"/>
                </a:solidFill>
                <a:latin typeface="Arial"/>
                <a:cs typeface="Arial"/>
              </a:rPr>
              <a:t>drive</a:t>
            </a:r>
            <a:r>
              <a:rPr dirty="0" sz="2650" spc="-85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2650">
                <a:solidFill>
                  <a:srgbClr val="373A47"/>
                </a:solidFill>
                <a:latin typeface="Arial"/>
                <a:cs typeface="Arial"/>
              </a:rPr>
              <a:t>68%</a:t>
            </a:r>
            <a:r>
              <a:rPr dirty="0" sz="2650" spc="-90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2650" spc="-25">
                <a:solidFill>
                  <a:srgbClr val="373A47"/>
                </a:solidFill>
                <a:latin typeface="Arial"/>
                <a:cs typeface="Arial"/>
              </a:rPr>
              <a:t>of </a:t>
            </a:r>
            <a:r>
              <a:rPr dirty="0" sz="2650">
                <a:solidFill>
                  <a:srgbClr val="373A47"/>
                </a:solidFill>
                <a:latin typeface="Arial"/>
                <a:cs typeface="Arial"/>
              </a:rPr>
              <a:t>total</a:t>
            </a:r>
            <a:r>
              <a:rPr dirty="0" sz="2650" spc="-40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2650" spc="-10">
                <a:solidFill>
                  <a:srgbClr val="373A47"/>
                </a:solidFill>
                <a:latin typeface="Arial"/>
                <a:cs typeface="Arial"/>
              </a:rPr>
              <a:t>revenue</a:t>
            </a:r>
            <a:endParaRPr sz="26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946400" y="3541738"/>
            <a:ext cx="4829810" cy="167957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Male</a:t>
            </a:r>
            <a:r>
              <a:rPr dirty="0" sz="1750" spc="-9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shoppers</a:t>
            </a:r>
            <a:r>
              <a:rPr dirty="0" sz="1750" spc="-9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generated</a:t>
            </a:r>
            <a:r>
              <a:rPr dirty="0" sz="1750" spc="-9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$157,890</a:t>
            </a:r>
            <a:r>
              <a:rPr dirty="0" sz="1750" spc="-9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compared</a:t>
            </a:r>
            <a:r>
              <a:rPr dirty="0" sz="1750" spc="-9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52576B"/>
                </a:solidFill>
                <a:latin typeface="Arial"/>
                <a:cs typeface="Arial"/>
              </a:rPr>
              <a:t>to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$75,191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from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female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customers</a:t>
            </a:r>
            <a:endParaRPr sz="1750">
              <a:latin typeface="Arial"/>
              <a:cs typeface="Arial"/>
            </a:endParaRPr>
          </a:p>
          <a:p>
            <a:pPr marL="12700" marR="29209">
              <a:lnSpc>
                <a:spcPct val="135700"/>
              </a:lnSpc>
              <a:spcBef>
                <a:spcPts val="162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Consider</a:t>
            </a:r>
            <a:r>
              <a:rPr dirty="0" sz="1750" spc="-7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targeted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campaigns</a:t>
            </a:r>
            <a:r>
              <a:rPr dirty="0" sz="1750" spc="-7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increase</a:t>
            </a:r>
            <a:r>
              <a:rPr dirty="0" sz="1750" spc="-7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female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customer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engagement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spending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089" y="1404454"/>
            <a:ext cx="8595995" cy="703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43000" algn="l"/>
                <a:tab pos="3528060" algn="l"/>
                <a:tab pos="4062095" algn="l"/>
                <a:tab pos="6666865" algn="l"/>
              </a:tabLst>
            </a:pPr>
            <a:r>
              <a:rPr dirty="0" spc="-25"/>
              <a:t>Top</a:t>
            </a:r>
            <a:r>
              <a:rPr dirty="0"/>
              <a:t>	</a:t>
            </a:r>
            <a:r>
              <a:rPr dirty="0" spc="-10"/>
              <a:t>Products</a:t>
            </a:r>
            <a:r>
              <a:rPr dirty="0"/>
              <a:t>	</a:t>
            </a:r>
            <a:r>
              <a:rPr dirty="0" spc="-50"/>
              <a:t>&amp;</a:t>
            </a:r>
            <a:r>
              <a:rPr dirty="0"/>
              <a:t>	</a:t>
            </a:r>
            <a:r>
              <a:rPr dirty="0" spc="-10"/>
              <a:t>Customer</a:t>
            </a:r>
            <a:r>
              <a:rPr dirty="0"/>
              <a:t>	</a:t>
            </a:r>
            <a:r>
              <a:rPr dirty="0" spc="-10"/>
              <a:t>Ratings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93788" y="2564840"/>
            <a:ext cx="4196715" cy="680720"/>
          </a:xfrm>
          <a:custGeom>
            <a:avLst/>
            <a:gdLst/>
            <a:ahLst/>
            <a:cxnLst/>
            <a:rect l="l" t="t" r="r" b="b"/>
            <a:pathLst>
              <a:path w="4196715" h="680719">
                <a:moveTo>
                  <a:pt x="4196359" y="370649"/>
                </a:moveTo>
                <a:lnTo>
                  <a:pt x="4191533" y="347027"/>
                </a:lnTo>
                <a:lnTo>
                  <a:pt x="4178414" y="327634"/>
                </a:lnTo>
                <a:lnTo>
                  <a:pt x="4159021" y="314515"/>
                </a:lnTo>
                <a:lnTo>
                  <a:pt x="4135399" y="309689"/>
                </a:lnTo>
                <a:lnTo>
                  <a:pt x="2436241" y="309689"/>
                </a:lnTo>
                <a:lnTo>
                  <a:pt x="2435199" y="294322"/>
                </a:lnTo>
                <a:lnTo>
                  <a:pt x="2426093" y="250215"/>
                </a:lnTo>
                <a:lnTo>
                  <a:pt x="2411412" y="208330"/>
                </a:lnTo>
                <a:lnTo>
                  <a:pt x="2391600" y="169075"/>
                </a:lnTo>
                <a:lnTo>
                  <a:pt x="2367064" y="132867"/>
                </a:lnTo>
                <a:lnTo>
                  <a:pt x="2338209" y="100126"/>
                </a:lnTo>
                <a:lnTo>
                  <a:pt x="2305469" y="71272"/>
                </a:lnTo>
                <a:lnTo>
                  <a:pt x="2269261" y="46736"/>
                </a:lnTo>
                <a:lnTo>
                  <a:pt x="2230005" y="26924"/>
                </a:lnTo>
                <a:lnTo>
                  <a:pt x="2188121" y="12242"/>
                </a:lnTo>
                <a:lnTo>
                  <a:pt x="2144014" y="3136"/>
                </a:lnTo>
                <a:lnTo>
                  <a:pt x="2098116" y="0"/>
                </a:lnTo>
                <a:lnTo>
                  <a:pt x="2052205" y="3136"/>
                </a:lnTo>
                <a:lnTo>
                  <a:pt x="2008098" y="12242"/>
                </a:lnTo>
                <a:lnTo>
                  <a:pt x="1966214" y="26924"/>
                </a:lnTo>
                <a:lnTo>
                  <a:pt x="1926958" y="46736"/>
                </a:lnTo>
                <a:lnTo>
                  <a:pt x="1890750" y="71272"/>
                </a:lnTo>
                <a:lnTo>
                  <a:pt x="1858010" y="100126"/>
                </a:lnTo>
                <a:lnTo>
                  <a:pt x="1829155" y="132867"/>
                </a:lnTo>
                <a:lnTo>
                  <a:pt x="1804619" y="169075"/>
                </a:lnTo>
                <a:lnTo>
                  <a:pt x="1784807" y="208330"/>
                </a:lnTo>
                <a:lnTo>
                  <a:pt x="1770126" y="250215"/>
                </a:lnTo>
                <a:lnTo>
                  <a:pt x="1761020" y="294322"/>
                </a:lnTo>
                <a:lnTo>
                  <a:pt x="1759966" y="309689"/>
                </a:lnTo>
                <a:lnTo>
                  <a:pt x="60960" y="309689"/>
                </a:lnTo>
                <a:lnTo>
                  <a:pt x="37325" y="314515"/>
                </a:lnTo>
                <a:lnTo>
                  <a:pt x="17932" y="327634"/>
                </a:lnTo>
                <a:lnTo>
                  <a:pt x="4813" y="347027"/>
                </a:lnTo>
                <a:lnTo>
                  <a:pt x="0" y="370649"/>
                </a:lnTo>
                <a:lnTo>
                  <a:pt x="4813" y="394284"/>
                </a:lnTo>
                <a:lnTo>
                  <a:pt x="17932" y="413677"/>
                </a:lnTo>
                <a:lnTo>
                  <a:pt x="37325" y="426796"/>
                </a:lnTo>
                <a:lnTo>
                  <a:pt x="60960" y="431609"/>
                </a:lnTo>
                <a:lnTo>
                  <a:pt x="1770595" y="431609"/>
                </a:lnTo>
                <a:lnTo>
                  <a:pt x="1784807" y="472122"/>
                </a:lnTo>
                <a:lnTo>
                  <a:pt x="1804619" y="511378"/>
                </a:lnTo>
                <a:lnTo>
                  <a:pt x="1829155" y="547585"/>
                </a:lnTo>
                <a:lnTo>
                  <a:pt x="1858010" y="580326"/>
                </a:lnTo>
                <a:lnTo>
                  <a:pt x="1890750" y="609180"/>
                </a:lnTo>
                <a:lnTo>
                  <a:pt x="1926958" y="633717"/>
                </a:lnTo>
                <a:lnTo>
                  <a:pt x="1966214" y="653529"/>
                </a:lnTo>
                <a:lnTo>
                  <a:pt x="2008098" y="668210"/>
                </a:lnTo>
                <a:lnTo>
                  <a:pt x="2052205" y="677316"/>
                </a:lnTo>
                <a:lnTo>
                  <a:pt x="2098116" y="680440"/>
                </a:lnTo>
                <a:lnTo>
                  <a:pt x="2144014" y="677316"/>
                </a:lnTo>
                <a:lnTo>
                  <a:pt x="2188121" y="668210"/>
                </a:lnTo>
                <a:lnTo>
                  <a:pt x="2230005" y="653529"/>
                </a:lnTo>
                <a:lnTo>
                  <a:pt x="2269261" y="633717"/>
                </a:lnTo>
                <a:lnTo>
                  <a:pt x="2305469" y="609180"/>
                </a:lnTo>
                <a:lnTo>
                  <a:pt x="2338209" y="580326"/>
                </a:lnTo>
                <a:lnTo>
                  <a:pt x="2367064" y="547585"/>
                </a:lnTo>
                <a:lnTo>
                  <a:pt x="2391600" y="511378"/>
                </a:lnTo>
                <a:lnTo>
                  <a:pt x="2411412" y="472122"/>
                </a:lnTo>
                <a:lnTo>
                  <a:pt x="2425611" y="431609"/>
                </a:lnTo>
                <a:lnTo>
                  <a:pt x="4135399" y="431609"/>
                </a:lnTo>
                <a:lnTo>
                  <a:pt x="4159021" y="426796"/>
                </a:lnTo>
                <a:lnTo>
                  <a:pt x="4178414" y="413677"/>
                </a:lnTo>
                <a:lnTo>
                  <a:pt x="4191533" y="394284"/>
                </a:lnTo>
                <a:lnTo>
                  <a:pt x="4196359" y="370649"/>
                </a:lnTo>
                <a:close/>
              </a:path>
            </a:pathLst>
          </a:custGeom>
          <a:solidFill>
            <a:srgbClr val="373A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743060" y="2828404"/>
            <a:ext cx="1739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1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38383" y="3467341"/>
            <a:ext cx="2025650" cy="865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>
                <a:solidFill>
                  <a:srgbClr val="52576B"/>
                </a:solidFill>
                <a:latin typeface="Arial"/>
                <a:cs typeface="Arial"/>
              </a:rPr>
              <a:t>Gloves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Average</a:t>
            </a:r>
            <a:r>
              <a:rPr dirty="0" sz="1750" spc="-8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rating:</a:t>
            </a:r>
            <a:r>
              <a:rPr dirty="0" sz="1750" spc="-7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52576B"/>
                </a:solidFill>
                <a:latin typeface="Arial"/>
                <a:cs typeface="Arial"/>
              </a:rPr>
              <a:t>3.86</a:t>
            </a:r>
            <a:endParaRPr sz="175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216957" y="2564840"/>
            <a:ext cx="4196715" cy="680720"/>
          </a:xfrm>
          <a:custGeom>
            <a:avLst/>
            <a:gdLst/>
            <a:ahLst/>
            <a:cxnLst/>
            <a:rect l="l" t="t" r="r" b="b"/>
            <a:pathLst>
              <a:path w="4196715" h="680719">
                <a:moveTo>
                  <a:pt x="4196359" y="370649"/>
                </a:moveTo>
                <a:lnTo>
                  <a:pt x="4191533" y="347027"/>
                </a:lnTo>
                <a:lnTo>
                  <a:pt x="4178414" y="327634"/>
                </a:lnTo>
                <a:lnTo>
                  <a:pt x="4159021" y="314515"/>
                </a:lnTo>
                <a:lnTo>
                  <a:pt x="4135399" y="309689"/>
                </a:lnTo>
                <a:lnTo>
                  <a:pt x="2436253" y="309689"/>
                </a:lnTo>
                <a:lnTo>
                  <a:pt x="2435212" y="294322"/>
                </a:lnTo>
                <a:lnTo>
                  <a:pt x="2426106" y="250215"/>
                </a:lnTo>
                <a:lnTo>
                  <a:pt x="2411425" y="208330"/>
                </a:lnTo>
                <a:lnTo>
                  <a:pt x="2391613" y="169075"/>
                </a:lnTo>
                <a:lnTo>
                  <a:pt x="2367076" y="132867"/>
                </a:lnTo>
                <a:lnTo>
                  <a:pt x="2338222" y="100126"/>
                </a:lnTo>
                <a:lnTo>
                  <a:pt x="2305481" y="71272"/>
                </a:lnTo>
                <a:lnTo>
                  <a:pt x="2269274" y="46736"/>
                </a:lnTo>
                <a:lnTo>
                  <a:pt x="2230018" y="26924"/>
                </a:lnTo>
                <a:lnTo>
                  <a:pt x="2188133" y="12242"/>
                </a:lnTo>
                <a:lnTo>
                  <a:pt x="2144026" y="3136"/>
                </a:lnTo>
                <a:lnTo>
                  <a:pt x="2098128" y="0"/>
                </a:lnTo>
                <a:lnTo>
                  <a:pt x="2052218" y="3136"/>
                </a:lnTo>
                <a:lnTo>
                  <a:pt x="2008111" y="12242"/>
                </a:lnTo>
                <a:lnTo>
                  <a:pt x="1966226" y="26924"/>
                </a:lnTo>
                <a:lnTo>
                  <a:pt x="1926971" y="46736"/>
                </a:lnTo>
                <a:lnTo>
                  <a:pt x="1890763" y="71272"/>
                </a:lnTo>
                <a:lnTo>
                  <a:pt x="1858022" y="100126"/>
                </a:lnTo>
                <a:lnTo>
                  <a:pt x="1829168" y="132867"/>
                </a:lnTo>
                <a:lnTo>
                  <a:pt x="1804631" y="169075"/>
                </a:lnTo>
                <a:lnTo>
                  <a:pt x="1784819" y="208330"/>
                </a:lnTo>
                <a:lnTo>
                  <a:pt x="1770138" y="250215"/>
                </a:lnTo>
                <a:lnTo>
                  <a:pt x="1761032" y="294322"/>
                </a:lnTo>
                <a:lnTo>
                  <a:pt x="1759978" y="309689"/>
                </a:lnTo>
                <a:lnTo>
                  <a:pt x="60947" y="309689"/>
                </a:lnTo>
                <a:lnTo>
                  <a:pt x="37325" y="314515"/>
                </a:lnTo>
                <a:lnTo>
                  <a:pt x="17932" y="327634"/>
                </a:lnTo>
                <a:lnTo>
                  <a:pt x="4813" y="347027"/>
                </a:lnTo>
                <a:lnTo>
                  <a:pt x="0" y="370649"/>
                </a:lnTo>
                <a:lnTo>
                  <a:pt x="4813" y="394284"/>
                </a:lnTo>
                <a:lnTo>
                  <a:pt x="17932" y="413677"/>
                </a:lnTo>
                <a:lnTo>
                  <a:pt x="37325" y="426796"/>
                </a:lnTo>
                <a:lnTo>
                  <a:pt x="60947" y="431609"/>
                </a:lnTo>
                <a:lnTo>
                  <a:pt x="1770608" y="431609"/>
                </a:lnTo>
                <a:lnTo>
                  <a:pt x="1784819" y="472122"/>
                </a:lnTo>
                <a:lnTo>
                  <a:pt x="1804631" y="511378"/>
                </a:lnTo>
                <a:lnTo>
                  <a:pt x="1829168" y="547585"/>
                </a:lnTo>
                <a:lnTo>
                  <a:pt x="1858022" y="580326"/>
                </a:lnTo>
                <a:lnTo>
                  <a:pt x="1890763" y="609180"/>
                </a:lnTo>
                <a:lnTo>
                  <a:pt x="1926971" y="633717"/>
                </a:lnTo>
                <a:lnTo>
                  <a:pt x="1966226" y="653529"/>
                </a:lnTo>
                <a:lnTo>
                  <a:pt x="2008111" y="668210"/>
                </a:lnTo>
                <a:lnTo>
                  <a:pt x="2052218" y="677316"/>
                </a:lnTo>
                <a:lnTo>
                  <a:pt x="2098128" y="680440"/>
                </a:lnTo>
                <a:lnTo>
                  <a:pt x="2144026" y="677316"/>
                </a:lnTo>
                <a:lnTo>
                  <a:pt x="2188133" y="668210"/>
                </a:lnTo>
                <a:lnTo>
                  <a:pt x="2230018" y="653529"/>
                </a:lnTo>
                <a:lnTo>
                  <a:pt x="2269274" y="633717"/>
                </a:lnTo>
                <a:lnTo>
                  <a:pt x="2305481" y="609180"/>
                </a:lnTo>
                <a:lnTo>
                  <a:pt x="2338222" y="580326"/>
                </a:lnTo>
                <a:lnTo>
                  <a:pt x="2367076" y="547585"/>
                </a:lnTo>
                <a:lnTo>
                  <a:pt x="2391613" y="511378"/>
                </a:lnTo>
                <a:lnTo>
                  <a:pt x="2411425" y="472122"/>
                </a:lnTo>
                <a:lnTo>
                  <a:pt x="2425623" y="431609"/>
                </a:lnTo>
                <a:lnTo>
                  <a:pt x="4135399" y="431609"/>
                </a:lnTo>
                <a:lnTo>
                  <a:pt x="4159021" y="426796"/>
                </a:lnTo>
                <a:lnTo>
                  <a:pt x="4178414" y="413677"/>
                </a:lnTo>
                <a:lnTo>
                  <a:pt x="4191533" y="394284"/>
                </a:lnTo>
                <a:lnTo>
                  <a:pt x="4196359" y="370649"/>
                </a:lnTo>
                <a:close/>
              </a:path>
            </a:pathLst>
          </a:custGeom>
          <a:solidFill>
            <a:srgbClr val="373A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7166229" y="2828404"/>
            <a:ext cx="1739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1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461558" y="3467341"/>
            <a:ext cx="2025650" cy="865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>
                <a:solidFill>
                  <a:srgbClr val="52576B"/>
                </a:solidFill>
                <a:latin typeface="Arial"/>
                <a:cs typeface="Arial"/>
              </a:rPr>
              <a:t>Sandals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Average</a:t>
            </a:r>
            <a:r>
              <a:rPr dirty="0" sz="1750" spc="-8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rating:</a:t>
            </a:r>
            <a:r>
              <a:rPr dirty="0" sz="1750" spc="-7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52576B"/>
                </a:solidFill>
                <a:latin typeface="Arial"/>
                <a:cs typeface="Arial"/>
              </a:rPr>
              <a:t>3.84</a:t>
            </a:r>
            <a:endParaRPr sz="175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9640138" y="2564840"/>
            <a:ext cx="4196715" cy="680720"/>
          </a:xfrm>
          <a:custGeom>
            <a:avLst/>
            <a:gdLst/>
            <a:ahLst/>
            <a:cxnLst/>
            <a:rect l="l" t="t" r="r" b="b"/>
            <a:pathLst>
              <a:path w="4196715" h="680719">
                <a:moveTo>
                  <a:pt x="4196359" y="370649"/>
                </a:moveTo>
                <a:lnTo>
                  <a:pt x="4191533" y="347027"/>
                </a:lnTo>
                <a:lnTo>
                  <a:pt x="4178414" y="327634"/>
                </a:lnTo>
                <a:lnTo>
                  <a:pt x="4159021" y="314515"/>
                </a:lnTo>
                <a:lnTo>
                  <a:pt x="4135399" y="309689"/>
                </a:lnTo>
                <a:lnTo>
                  <a:pt x="2436241" y="309689"/>
                </a:lnTo>
                <a:lnTo>
                  <a:pt x="2435199" y="294322"/>
                </a:lnTo>
                <a:lnTo>
                  <a:pt x="2426093" y="250215"/>
                </a:lnTo>
                <a:lnTo>
                  <a:pt x="2411412" y="208330"/>
                </a:lnTo>
                <a:lnTo>
                  <a:pt x="2391600" y="169075"/>
                </a:lnTo>
                <a:lnTo>
                  <a:pt x="2367064" y="132867"/>
                </a:lnTo>
                <a:lnTo>
                  <a:pt x="2338209" y="100126"/>
                </a:lnTo>
                <a:lnTo>
                  <a:pt x="2305469" y="71272"/>
                </a:lnTo>
                <a:lnTo>
                  <a:pt x="2269261" y="46736"/>
                </a:lnTo>
                <a:lnTo>
                  <a:pt x="2230005" y="26924"/>
                </a:lnTo>
                <a:lnTo>
                  <a:pt x="2188121" y="12242"/>
                </a:lnTo>
                <a:lnTo>
                  <a:pt x="2144014" y="3136"/>
                </a:lnTo>
                <a:lnTo>
                  <a:pt x="2098116" y="0"/>
                </a:lnTo>
                <a:lnTo>
                  <a:pt x="2052205" y="3136"/>
                </a:lnTo>
                <a:lnTo>
                  <a:pt x="2008098" y="12242"/>
                </a:lnTo>
                <a:lnTo>
                  <a:pt x="1966214" y="26924"/>
                </a:lnTo>
                <a:lnTo>
                  <a:pt x="1926958" y="46736"/>
                </a:lnTo>
                <a:lnTo>
                  <a:pt x="1890750" y="71272"/>
                </a:lnTo>
                <a:lnTo>
                  <a:pt x="1858010" y="100126"/>
                </a:lnTo>
                <a:lnTo>
                  <a:pt x="1829155" y="132867"/>
                </a:lnTo>
                <a:lnTo>
                  <a:pt x="1804619" y="169075"/>
                </a:lnTo>
                <a:lnTo>
                  <a:pt x="1784807" y="208330"/>
                </a:lnTo>
                <a:lnTo>
                  <a:pt x="1770126" y="250215"/>
                </a:lnTo>
                <a:lnTo>
                  <a:pt x="1761020" y="294322"/>
                </a:lnTo>
                <a:lnTo>
                  <a:pt x="1759966" y="309689"/>
                </a:lnTo>
                <a:lnTo>
                  <a:pt x="60947" y="309689"/>
                </a:lnTo>
                <a:lnTo>
                  <a:pt x="37325" y="314515"/>
                </a:lnTo>
                <a:lnTo>
                  <a:pt x="17932" y="327634"/>
                </a:lnTo>
                <a:lnTo>
                  <a:pt x="4813" y="347027"/>
                </a:lnTo>
                <a:lnTo>
                  <a:pt x="0" y="370649"/>
                </a:lnTo>
                <a:lnTo>
                  <a:pt x="4813" y="394284"/>
                </a:lnTo>
                <a:lnTo>
                  <a:pt x="17932" y="413677"/>
                </a:lnTo>
                <a:lnTo>
                  <a:pt x="37325" y="426796"/>
                </a:lnTo>
                <a:lnTo>
                  <a:pt x="60947" y="431609"/>
                </a:lnTo>
                <a:lnTo>
                  <a:pt x="1770595" y="431609"/>
                </a:lnTo>
                <a:lnTo>
                  <a:pt x="1784807" y="472122"/>
                </a:lnTo>
                <a:lnTo>
                  <a:pt x="1804619" y="511378"/>
                </a:lnTo>
                <a:lnTo>
                  <a:pt x="1829155" y="547585"/>
                </a:lnTo>
                <a:lnTo>
                  <a:pt x="1858010" y="580326"/>
                </a:lnTo>
                <a:lnTo>
                  <a:pt x="1890750" y="609180"/>
                </a:lnTo>
                <a:lnTo>
                  <a:pt x="1926958" y="633717"/>
                </a:lnTo>
                <a:lnTo>
                  <a:pt x="1966214" y="653529"/>
                </a:lnTo>
                <a:lnTo>
                  <a:pt x="2008098" y="668210"/>
                </a:lnTo>
                <a:lnTo>
                  <a:pt x="2052205" y="677316"/>
                </a:lnTo>
                <a:lnTo>
                  <a:pt x="2098116" y="680440"/>
                </a:lnTo>
                <a:lnTo>
                  <a:pt x="2144014" y="677316"/>
                </a:lnTo>
                <a:lnTo>
                  <a:pt x="2188121" y="668210"/>
                </a:lnTo>
                <a:lnTo>
                  <a:pt x="2230005" y="653529"/>
                </a:lnTo>
                <a:lnTo>
                  <a:pt x="2269261" y="633717"/>
                </a:lnTo>
                <a:lnTo>
                  <a:pt x="2305469" y="609180"/>
                </a:lnTo>
                <a:lnTo>
                  <a:pt x="2338209" y="580326"/>
                </a:lnTo>
                <a:lnTo>
                  <a:pt x="2367064" y="547585"/>
                </a:lnTo>
                <a:lnTo>
                  <a:pt x="2391600" y="511378"/>
                </a:lnTo>
                <a:lnTo>
                  <a:pt x="2411412" y="472122"/>
                </a:lnTo>
                <a:lnTo>
                  <a:pt x="2425611" y="431609"/>
                </a:lnTo>
                <a:lnTo>
                  <a:pt x="4135399" y="431609"/>
                </a:lnTo>
                <a:lnTo>
                  <a:pt x="4159021" y="426796"/>
                </a:lnTo>
                <a:lnTo>
                  <a:pt x="4178414" y="413677"/>
                </a:lnTo>
                <a:lnTo>
                  <a:pt x="4191533" y="394284"/>
                </a:lnTo>
                <a:lnTo>
                  <a:pt x="4196359" y="370649"/>
                </a:lnTo>
                <a:close/>
              </a:path>
            </a:pathLst>
          </a:custGeom>
          <a:solidFill>
            <a:srgbClr val="373A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1589410" y="2828404"/>
            <a:ext cx="1739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1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884727" y="3467341"/>
            <a:ext cx="2025650" cy="865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>
                <a:solidFill>
                  <a:srgbClr val="52576B"/>
                </a:solidFill>
                <a:latin typeface="Arial"/>
                <a:cs typeface="Arial"/>
              </a:rPr>
              <a:t>Boots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Average</a:t>
            </a:r>
            <a:r>
              <a:rPr dirty="0" sz="1750" spc="-8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rating:</a:t>
            </a:r>
            <a:r>
              <a:rPr dirty="0" sz="1750" spc="-7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52576B"/>
                </a:solidFill>
                <a:latin typeface="Arial"/>
                <a:cs typeface="Arial"/>
              </a:rPr>
              <a:t>3.82</a:t>
            </a:r>
            <a:endParaRPr sz="175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793788" y="4809413"/>
            <a:ext cx="6408420" cy="680720"/>
          </a:xfrm>
          <a:custGeom>
            <a:avLst/>
            <a:gdLst/>
            <a:ahLst/>
            <a:cxnLst/>
            <a:rect l="l" t="t" r="r" b="b"/>
            <a:pathLst>
              <a:path w="6408420" h="680720">
                <a:moveTo>
                  <a:pt x="6407950" y="370636"/>
                </a:moveTo>
                <a:lnTo>
                  <a:pt x="6403124" y="347014"/>
                </a:lnTo>
                <a:lnTo>
                  <a:pt x="6390005" y="327621"/>
                </a:lnTo>
                <a:lnTo>
                  <a:pt x="6370612" y="314502"/>
                </a:lnTo>
                <a:lnTo>
                  <a:pt x="6346990" y="309676"/>
                </a:lnTo>
                <a:lnTo>
                  <a:pt x="3542093" y="309676"/>
                </a:lnTo>
                <a:lnTo>
                  <a:pt x="3541052" y="294322"/>
                </a:lnTo>
                <a:lnTo>
                  <a:pt x="3531946" y="250215"/>
                </a:lnTo>
                <a:lnTo>
                  <a:pt x="3517265" y="208330"/>
                </a:lnTo>
                <a:lnTo>
                  <a:pt x="3497453" y="169075"/>
                </a:lnTo>
                <a:lnTo>
                  <a:pt x="3472916" y="132867"/>
                </a:lnTo>
                <a:lnTo>
                  <a:pt x="3444062" y="100126"/>
                </a:lnTo>
                <a:lnTo>
                  <a:pt x="3411321" y="71272"/>
                </a:lnTo>
                <a:lnTo>
                  <a:pt x="3375114" y="46736"/>
                </a:lnTo>
                <a:lnTo>
                  <a:pt x="3335858" y="26924"/>
                </a:lnTo>
                <a:lnTo>
                  <a:pt x="3293973" y="12242"/>
                </a:lnTo>
                <a:lnTo>
                  <a:pt x="3249866" y="3136"/>
                </a:lnTo>
                <a:lnTo>
                  <a:pt x="3203968" y="0"/>
                </a:lnTo>
                <a:lnTo>
                  <a:pt x="3158058" y="3136"/>
                </a:lnTo>
                <a:lnTo>
                  <a:pt x="3113951" y="12242"/>
                </a:lnTo>
                <a:lnTo>
                  <a:pt x="3072066" y="26924"/>
                </a:lnTo>
                <a:lnTo>
                  <a:pt x="3032810" y="46736"/>
                </a:lnTo>
                <a:lnTo>
                  <a:pt x="2996603" y="71272"/>
                </a:lnTo>
                <a:lnTo>
                  <a:pt x="2963862" y="100126"/>
                </a:lnTo>
                <a:lnTo>
                  <a:pt x="2935008" y="132867"/>
                </a:lnTo>
                <a:lnTo>
                  <a:pt x="2910471" y="169075"/>
                </a:lnTo>
                <a:lnTo>
                  <a:pt x="2890659" y="208330"/>
                </a:lnTo>
                <a:lnTo>
                  <a:pt x="2875978" y="250215"/>
                </a:lnTo>
                <a:lnTo>
                  <a:pt x="2866872" y="294322"/>
                </a:lnTo>
                <a:lnTo>
                  <a:pt x="2865818" y="309676"/>
                </a:lnTo>
                <a:lnTo>
                  <a:pt x="60960" y="309676"/>
                </a:lnTo>
                <a:lnTo>
                  <a:pt x="37325" y="314502"/>
                </a:lnTo>
                <a:lnTo>
                  <a:pt x="17932" y="327621"/>
                </a:lnTo>
                <a:lnTo>
                  <a:pt x="4813" y="347014"/>
                </a:lnTo>
                <a:lnTo>
                  <a:pt x="0" y="370636"/>
                </a:lnTo>
                <a:lnTo>
                  <a:pt x="4813" y="394271"/>
                </a:lnTo>
                <a:lnTo>
                  <a:pt x="17932" y="413664"/>
                </a:lnTo>
                <a:lnTo>
                  <a:pt x="37325" y="426783"/>
                </a:lnTo>
                <a:lnTo>
                  <a:pt x="60960" y="431596"/>
                </a:lnTo>
                <a:lnTo>
                  <a:pt x="2876448" y="431596"/>
                </a:lnTo>
                <a:lnTo>
                  <a:pt x="2890659" y="472122"/>
                </a:lnTo>
                <a:lnTo>
                  <a:pt x="2910471" y="511378"/>
                </a:lnTo>
                <a:lnTo>
                  <a:pt x="2935008" y="547585"/>
                </a:lnTo>
                <a:lnTo>
                  <a:pt x="2963862" y="580326"/>
                </a:lnTo>
                <a:lnTo>
                  <a:pt x="2996603" y="609180"/>
                </a:lnTo>
                <a:lnTo>
                  <a:pt x="3032810" y="633717"/>
                </a:lnTo>
                <a:lnTo>
                  <a:pt x="3072066" y="653529"/>
                </a:lnTo>
                <a:lnTo>
                  <a:pt x="3113951" y="668210"/>
                </a:lnTo>
                <a:lnTo>
                  <a:pt x="3158058" y="677316"/>
                </a:lnTo>
                <a:lnTo>
                  <a:pt x="3203968" y="680440"/>
                </a:lnTo>
                <a:lnTo>
                  <a:pt x="3249866" y="677316"/>
                </a:lnTo>
                <a:lnTo>
                  <a:pt x="3293973" y="668210"/>
                </a:lnTo>
                <a:lnTo>
                  <a:pt x="3335858" y="653529"/>
                </a:lnTo>
                <a:lnTo>
                  <a:pt x="3375114" y="633717"/>
                </a:lnTo>
                <a:lnTo>
                  <a:pt x="3411321" y="609180"/>
                </a:lnTo>
                <a:lnTo>
                  <a:pt x="3444062" y="580326"/>
                </a:lnTo>
                <a:lnTo>
                  <a:pt x="3472916" y="547585"/>
                </a:lnTo>
                <a:lnTo>
                  <a:pt x="3497453" y="511378"/>
                </a:lnTo>
                <a:lnTo>
                  <a:pt x="3517265" y="472122"/>
                </a:lnTo>
                <a:lnTo>
                  <a:pt x="3531463" y="431596"/>
                </a:lnTo>
                <a:lnTo>
                  <a:pt x="6346990" y="431596"/>
                </a:lnTo>
                <a:lnTo>
                  <a:pt x="6370612" y="426783"/>
                </a:lnTo>
                <a:lnTo>
                  <a:pt x="6390005" y="413664"/>
                </a:lnTo>
                <a:lnTo>
                  <a:pt x="6403124" y="394271"/>
                </a:lnTo>
                <a:lnTo>
                  <a:pt x="6407950" y="370636"/>
                </a:lnTo>
                <a:close/>
              </a:path>
            </a:pathLst>
          </a:custGeom>
          <a:solidFill>
            <a:srgbClr val="373A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3848912" y="5072977"/>
            <a:ext cx="1739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1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38383" y="5711914"/>
            <a:ext cx="2025650" cy="865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25">
                <a:solidFill>
                  <a:srgbClr val="52576B"/>
                </a:solidFill>
                <a:latin typeface="Arial"/>
                <a:cs typeface="Arial"/>
              </a:rPr>
              <a:t>Hat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Average</a:t>
            </a:r>
            <a:r>
              <a:rPr dirty="0" sz="1750" spc="-8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rating:</a:t>
            </a:r>
            <a:r>
              <a:rPr dirty="0" sz="1750" spc="-7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52576B"/>
                </a:solidFill>
                <a:latin typeface="Arial"/>
                <a:cs typeface="Arial"/>
              </a:rPr>
              <a:t>3.80</a:t>
            </a:r>
            <a:endParaRPr sz="1750">
              <a:latin typeface="Arial"/>
              <a:cs typeface="Arial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7428548" y="4809413"/>
            <a:ext cx="6408420" cy="680720"/>
          </a:xfrm>
          <a:custGeom>
            <a:avLst/>
            <a:gdLst/>
            <a:ahLst/>
            <a:cxnLst/>
            <a:rect l="l" t="t" r="r" b="b"/>
            <a:pathLst>
              <a:path w="6408419" h="680720">
                <a:moveTo>
                  <a:pt x="6407950" y="370636"/>
                </a:moveTo>
                <a:lnTo>
                  <a:pt x="6403124" y="347014"/>
                </a:lnTo>
                <a:lnTo>
                  <a:pt x="6390005" y="327621"/>
                </a:lnTo>
                <a:lnTo>
                  <a:pt x="6370612" y="314502"/>
                </a:lnTo>
                <a:lnTo>
                  <a:pt x="6346990" y="309676"/>
                </a:lnTo>
                <a:lnTo>
                  <a:pt x="3542093" y="309676"/>
                </a:lnTo>
                <a:lnTo>
                  <a:pt x="3541052" y="294322"/>
                </a:lnTo>
                <a:lnTo>
                  <a:pt x="3531946" y="250215"/>
                </a:lnTo>
                <a:lnTo>
                  <a:pt x="3517265" y="208330"/>
                </a:lnTo>
                <a:lnTo>
                  <a:pt x="3497453" y="169075"/>
                </a:lnTo>
                <a:lnTo>
                  <a:pt x="3472916" y="132867"/>
                </a:lnTo>
                <a:lnTo>
                  <a:pt x="3444062" y="100126"/>
                </a:lnTo>
                <a:lnTo>
                  <a:pt x="3411321" y="71272"/>
                </a:lnTo>
                <a:lnTo>
                  <a:pt x="3375114" y="46736"/>
                </a:lnTo>
                <a:lnTo>
                  <a:pt x="3335858" y="26924"/>
                </a:lnTo>
                <a:lnTo>
                  <a:pt x="3293973" y="12242"/>
                </a:lnTo>
                <a:lnTo>
                  <a:pt x="3249866" y="3136"/>
                </a:lnTo>
                <a:lnTo>
                  <a:pt x="3203968" y="0"/>
                </a:lnTo>
                <a:lnTo>
                  <a:pt x="3158058" y="3136"/>
                </a:lnTo>
                <a:lnTo>
                  <a:pt x="3113951" y="12242"/>
                </a:lnTo>
                <a:lnTo>
                  <a:pt x="3072066" y="26924"/>
                </a:lnTo>
                <a:lnTo>
                  <a:pt x="3032810" y="46736"/>
                </a:lnTo>
                <a:lnTo>
                  <a:pt x="2996603" y="71272"/>
                </a:lnTo>
                <a:lnTo>
                  <a:pt x="2963862" y="100126"/>
                </a:lnTo>
                <a:lnTo>
                  <a:pt x="2935008" y="132867"/>
                </a:lnTo>
                <a:lnTo>
                  <a:pt x="2910471" y="169075"/>
                </a:lnTo>
                <a:lnTo>
                  <a:pt x="2890659" y="208330"/>
                </a:lnTo>
                <a:lnTo>
                  <a:pt x="2875978" y="250215"/>
                </a:lnTo>
                <a:lnTo>
                  <a:pt x="2866872" y="294322"/>
                </a:lnTo>
                <a:lnTo>
                  <a:pt x="2865818" y="309676"/>
                </a:lnTo>
                <a:lnTo>
                  <a:pt x="60947" y="309676"/>
                </a:lnTo>
                <a:lnTo>
                  <a:pt x="37325" y="314502"/>
                </a:lnTo>
                <a:lnTo>
                  <a:pt x="17932" y="327621"/>
                </a:lnTo>
                <a:lnTo>
                  <a:pt x="4813" y="347014"/>
                </a:lnTo>
                <a:lnTo>
                  <a:pt x="0" y="370636"/>
                </a:lnTo>
                <a:lnTo>
                  <a:pt x="4813" y="394271"/>
                </a:lnTo>
                <a:lnTo>
                  <a:pt x="17932" y="413664"/>
                </a:lnTo>
                <a:lnTo>
                  <a:pt x="37325" y="426783"/>
                </a:lnTo>
                <a:lnTo>
                  <a:pt x="60947" y="431596"/>
                </a:lnTo>
                <a:lnTo>
                  <a:pt x="2876448" y="431596"/>
                </a:lnTo>
                <a:lnTo>
                  <a:pt x="2890659" y="472122"/>
                </a:lnTo>
                <a:lnTo>
                  <a:pt x="2910471" y="511378"/>
                </a:lnTo>
                <a:lnTo>
                  <a:pt x="2935008" y="547585"/>
                </a:lnTo>
                <a:lnTo>
                  <a:pt x="2963862" y="580326"/>
                </a:lnTo>
                <a:lnTo>
                  <a:pt x="2996603" y="609180"/>
                </a:lnTo>
                <a:lnTo>
                  <a:pt x="3032810" y="633717"/>
                </a:lnTo>
                <a:lnTo>
                  <a:pt x="3072066" y="653529"/>
                </a:lnTo>
                <a:lnTo>
                  <a:pt x="3113951" y="668210"/>
                </a:lnTo>
                <a:lnTo>
                  <a:pt x="3158058" y="677316"/>
                </a:lnTo>
                <a:lnTo>
                  <a:pt x="3203968" y="680440"/>
                </a:lnTo>
                <a:lnTo>
                  <a:pt x="3249866" y="677316"/>
                </a:lnTo>
                <a:lnTo>
                  <a:pt x="3293973" y="668210"/>
                </a:lnTo>
                <a:lnTo>
                  <a:pt x="3335858" y="653529"/>
                </a:lnTo>
                <a:lnTo>
                  <a:pt x="3375114" y="633717"/>
                </a:lnTo>
                <a:lnTo>
                  <a:pt x="3411321" y="609180"/>
                </a:lnTo>
                <a:lnTo>
                  <a:pt x="3444062" y="580326"/>
                </a:lnTo>
                <a:lnTo>
                  <a:pt x="3472916" y="547585"/>
                </a:lnTo>
                <a:lnTo>
                  <a:pt x="3497453" y="511378"/>
                </a:lnTo>
                <a:lnTo>
                  <a:pt x="3517265" y="472122"/>
                </a:lnTo>
                <a:lnTo>
                  <a:pt x="3531463" y="431596"/>
                </a:lnTo>
                <a:lnTo>
                  <a:pt x="6346990" y="431596"/>
                </a:lnTo>
                <a:lnTo>
                  <a:pt x="6370612" y="426783"/>
                </a:lnTo>
                <a:lnTo>
                  <a:pt x="6390005" y="413664"/>
                </a:lnTo>
                <a:lnTo>
                  <a:pt x="6403124" y="394271"/>
                </a:lnTo>
                <a:lnTo>
                  <a:pt x="6407950" y="370636"/>
                </a:lnTo>
                <a:close/>
              </a:path>
            </a:pathLst>
          </a:custGeom>
          <a:solidFill>
            <a:srgbClr val="373A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0483672" y="5072977"/>
            <a:ext cx="1739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21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673137" y="5711914"/>
            <a:ext cx="2025650" cy="865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>
                <a:solidFill>
                  <a:srgbClr val="52576B"/>
                </a:solidFill>
                <a:latin typeface="Arial"/>
                <a:cs typeface="Arial"/>
              </a:rPr>
              <a:t>Skirt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Average</a:t>
            </a:r>
            <a:r>
              <a:rPr dirty="0" sz="1750" spc="-8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rating:</a:t>
            </a:r>
            <a:r>
              <a:rPr dirty="0" sz="1750" spc="-7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52576B"/>
                </a:solidFill>
                <a:latin typeface="Arial"/>
                <a:cs typeface="Arial"/>
              </a:rPr>
              <a:t>3.78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89" y="812835"/>
            <a:ext cx="7564755" cy="703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68550" algn="l"/>
                <a:tab pos="2902585" algn="l"/>
                <a:tab pos="5447030" algn="l"/>
              </a:tabLst>
            </a:pPr>
            <a:r>
              <a:rPr dirty="0" spc="-10"/>
              <a:t>Shipping</a:t>
            </a:r>
            <a:r>
              <a:rPr dirty="0"/>
              <a:t>	</a:t>
            </a:r>
            <a:r>
              <a:rPr dirty="0" spc="-50"/>
              <a:t>&amp;</a:t>
            </a:r>
            <a:r>
              <a:rPr dirty="0"/>
              <a:t>	</a:t>
            </a:r>
            <a:r>
              <a:rPr dirty="0" spc="-10"/>
              <a:t>Spending</a:t>
            </a:r>
            <a:r>
              <a:rPr dirty="0"/>
              <a:t>	</a:t>
            </a:r>
            <a:r>
              <a:rPr dirty="0" spc="-10"/>
              <a:t>Patterns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789979" y="2564726"/>
            <a:ext cx="7564120" cy="1828800"/>
            <a:chOff x="789979" y="2564726"/>
            <a:chExt cx="7564120" cy="1828800"/>
          </a:xfrm>
        </p:grpSpPr>
        <p:sp>
          <p:nvSpPr>
            <p:cNvPr id="5" name="object 5" descr=""/>
            <p:cNvSpPr/>
            <p:nvPr/>
          </p:nvSpPr>
          <p:spPr>
            <a:xfrm>
              <a:off x="793789" y="2568536"/>
              <a:ext cx="7556500" cy="1821180"/>
            </a:xfrm>
            <a:custGeom>
              <a:avLst/>
              <a:gdLst/>
              <a:ahLst/>
              <a:cxnLst/>
              <a:rect l="l" t="t" r="r" b="b"/>
              <a:pathLst>
                <a:path w="7556500" h="1821179">
                  <a:moveTo>
                    <a:pt x="7461161" y="0"/>
                  </a:moveTo>
                  <a:lnTo>
                    <a:pt x="95265" y="0"/>
                  </a:lnTo>
                  <a:lnTo>
                    <a:pt x="58332" y="7535"/>
                  </a:lnTo>
                  <a:lnTo>
                    <a:pt x="28034" y="28033"/>
                  </a:lnTo>
                  <a:lnTo>
                    <a:pt x="7536" y="58330"/>
                  </a:lnTo>
                  <a:lnTo>
                    <a:pt x="0" y="95262"/>
                  </a:lnTo>
                  <a:lnTo>
                    <a:pt x="0" y="1725917"/>
                  </a:lnTo>
                  <a:lnTo>
                    <a:pt x="7536" y="1762849"/>
                  </a:lnTo>
                  <a:lnTo>
                    <a:pt x="28034" y="1793146"/>
                  </a:lnTo>
                  <a:lnTo>
                    <a:pt x="58332" y="1813644"/>
                  </a:lnTo>
                  <a:lnTo>
                    <a:pt x="95265" y="1821179"/>
                  </a:lnTo>
                  <a:lnTo>
                    <a:pt x="7461161" y="1821179"/>
                  </a:lnTo>
                  <a:lnTo>
                    <a:pt x="7498093" y="1813644"/>
                  </a:lnTo>
                  <a:lnTo>
                    <a:pt x="7528390" y="1793146"/>
                  </a:lnTo>
                  <a:lnTo>
                    <a:pt x="7548888" y="1762849"/>
                  </a:lnTo>
                  <a:lnTo>
                    <a:pt x="7556423" y="1725917"/>
                  </a:lnTo>
                  <a:lnTo>
                    <a:pt x="7556423" y="95262"/>
                  </a:lnTo>
                  <a:lnTo>
                    <a:pt x="7548888" y="58330"/>
                  </a:lnTo>
                  <a:lnTo>
                    <a:pt x="7528390" y="28033"/>
                  </a:lnTo>
                  <a:lnTo>
                    <a:pt x="7498093" y="7535"/>
                  </a:lnTo>
                  <a:lnTo>
                    <a:pt x="7461161" y="0"/>
                  </a:lnTo>
                  <a:close/>
                </a:path>
              </a:pathLst>
            </a:custGeom>
            <a:solidFill>
              <a:srgbClr val="E1E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93789" y="2568536"/>
              <a:ext cx="7556500" cy="1821180"/>
            </a:xfrm>
            <a:custGeom>
              <a:avLst/>
              <a:gdLst/>
              <a:ahLst/>
              <a:cxnLst/>
              <a:rect l="l" t="t" r="r" b="b"/>
              <a:pathLst>
                <a:path w="7556500" h="1821179">
                  <a:moveTo>
                    <a:pt x="0" y="95262"/>
                  </a:moveTo>
                  <a:lnTo>
                    <a:pt x="7536" y="58330"/>
                  </a:lnTo>
                  <a:lnTo>
                    <a:pt x="28034" y="28033"/>
                  </a:lnTo>
                  <a:lnTo>
                    <a:pt x="58332" y="7535"/>
                  </a:lnTo>
                  <a:lnTo>
                    <a:pt x="95265" y="0"/>
                  </a:lnTo>
                  <a:lnTo>
                    <a:pt x="7461161" y="0"/>
                  </a:lnTo>
                  <a:lnTo>
                    <a:pt x="7498093" y="7535"/>
                  </a:lnTo>
                  <a:lnTo>
                    <a:pt x="7528390" y="28033"/>
                  </a:lnTo>
                  <a:lnTo>
                    <a:pt x="7548888" y="58330"/>
                  </a:lnTo>
                  <a:lnTo>
                    <a:pt x="7556423" y="95262"/>
                  </a:lnTo>
                  <a:lnTo>
                    <a:pt x="7556423" y="1725917"/>
                  </a:lnTo>
                  <a:lnTo>
                    <a:pt x="7548888" y="1762849"/>
                  </a:lnTo>
                  <a:lnTo>
                    <a:pt x="7528390" y="1793146"/>
                  </a:lnTo>
                  <a:lnTo>
                    <a:pt x="7498093" y="1813644"/>
                  </a:lnTo>
                  <a:lnTo>
                    <a:pt x="7461161" y="1821179"/>
                  </a:lnTo>
                  <a:lnTo>
                    <a:pt x="95265" y="1821179"/>
                  </a:lnTo>
                  <a:lnTo>
                    <a:pt x="58332" y="1813644"/>
                  </a:lnTo>
                  <a:lnTo>
                    <a:pt x="28034" y="1793146"/>
                  </a:lnTo>
                  <a:lnTo>
                    <a:pt x="7536" y="1762849"/>
                  </a:lnTo>
                  <a:lnTo>
                    <a:pt x="0" y="1725917"/>
                  </a:lnTo>
                  <a:lnTo>
                    <a:pt x="0" y="95262"/>
                  </a:lnTo>
                  <a:close/>
                </a:path>
              </a:pathLst>
            </a:custGeom>
            <a:ln w="7619">
              <a:solidFill>
                <a:srgbClr val="C7C9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015523" y="2798330"/>
            <a:ext cx="6224270" cy="1364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52576B"/>
                </a:solidFill>
                <a:latin typeface="Arial"/>
                <a:cs typeface="Arial"/>
              </a:rPr>
              <a:t>Express</a:t>
            </a:r>
            <a:r>
              <a:rPr dirty="0" sz="220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2576B"/>
                </a:solidFill>
                <a:latin typeface="Arial"/>
                <a:cs typeface="Arial"/>
              </a:rPr>
              <a:t>Shipping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1750" b="1">
                <a:solidFill>
                  <a:srgbClr val="52576B"/>
                </a:solidFill>
                <a:latin typeface="Arial"/>
                <a:cs typeface="Arial"/>
              </a:rPr>
              <a:t>$60.48</a:t>
            </a:r>
            <a:r>
              <a:rPr dirty="0" sz="1750" spc="-85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average</a:t>
            </a:r>
            <a:r>
              <a:rPr dirty="0" sz="1750" spc="-8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purchase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3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Premium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shipping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customers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spend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3.5%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more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per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transaction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89979" y="4612716"/>
            <a:ext cx="7564120" cy="1828800"/>
            <a:chOff x="789979" y="4612716"/>
            <a:chExt cx="7564120" cy="1828800"/>
          </a:xfrm>
        </p:grpSpPr>
        <p:sp>
          <p:nvSpPr>
            <p:cNvPr id="9" name="object 9" descr=""/>
            <p:cNvSpPr/>
            <p:nvPr/>
          </p:nvSpPr>
          <p:spPr>
            <a:xfrm>
              <a:off x="793789" y="4616526"/>
              <a:ext cx="7556500" cy="1821180"/>
            </a:xfrm>
            <a:custGeom>
              <a:avLst/>
              <a:gdLst/>
              <a:ahLst/>
              <a:cxnLst/>
              <a:rect l="l" t="t" r="r" b="b"/>
              <a:pathLst>
                <a:path w="7556500" h="1821179">
                  <a:moveTo>
                    <a:pt x="7461161" y="0"/>
                  </a:moveTo>
                  <a:lnTo>
                    <a:pt x="95265" y="0"/>
                  </a:lnTo>
                  <a:lnTo>
                    <a:pt x="58332" y="7535"/>
                  </a:lnTo>
                  <a:lnTo>
                    <a:pt x="28034" y="28033"/>
                  </a:lnTo>
                  <a:lnTo>
                    <a:pt x="7536" y="58330"/>
                  </a:lnTo>
                  <a:lnTo>
                    <a:pt x="0" y="95262"/>
                  </a:lnTo>
                  <a:lnTo>
                    <a:pt x="0" y="1725917"/>
                  </a:lnTo>
                  <a:lnTo>
                    <a:pt x="7536" y="1762849"/>
                  </a:lnTo>
                  <a:lnTo>
                    <a:pt x="28034" y="1793146"/>
                  </a:lnTo>
                  <a:lnTo>
                    <a:pt x="58332" y="1813644"/>
                  </a:lnTo>
                  <a:lnTo>
                    <a:pt x="95265" y="1821179"/>
                  </a:lnTo>
                  <a:lnTo>
                    <a:pt x="7461161" y="1821179"/>
                  </a:lnTo>
                  <a:lnTo>
                    <a:pt x="7498093" y="1813644"/>
                  </a:lnTo>
                  <a:lnTo>
                    <a:pt x="7528390" y="1793146"/>
                  </a:lnTo>
                  <a:lnTo>
                    <a:pt x="7548888" y="1762849"/>
                  </a:lnTo>
                  <a:lnTo>
                    <a:pt x="7556423" y="1725917"/>
                  </a:lnTo>
                  <a:lnTo>
                    <a:pt x="7556423" y="95262"/>
                  </a:lnTo>
                  <a:lnTo>
                    <a:pt x="7548888" y="58330"/>
                  </a:lnTo>
                  <a:lnTo>
                    <a:pt x="7528390" y="28033"/>
                  </a:lnTo>
                  <a:lnTo>
                    <a:pt x="7498093" y="7535"/>
                  </a:lnTo>
                  <a:lnTo>
                    <a:pt x="7461161" y="0"/>
                  </a:lnTo>
                  <a:close/>
                </a:path>
              </a:pathLst>
            </a:custGeom>
            <a:solidFill>
              <a:srgbClr val="E1E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93789" y="4616526"/>
              <a:ext cx="7556500" cy="1821180"/>
            </a:xfrm>
            <a:custGeom>
              <a:avLst/>
              <a:gdLst/>
              <a:ahLst/>
              <a:cxnLst/>
              <a:rect l="l" t="t" r="r" b="b"/>
              <a:pathLst>
                <a:path w="7556500" h="1821179">
                  <a:moveTo>
                    <a:pt x="0" y="95262"/>
                  </a:moveTo>
                  <a:lnTo>
                    <a:pt x="7536" y="58330"/>
                  </a:lnTo>
                  <a:lnTo>
                    <a:pt x="28034" y="28033"/>
                  </a:lnTo>
                  <a:lnTo>
                    <a:pt x="58332" y="7535"/>
                  </a:lnTo>
                  <a:lnTo>
                    <a:pt x="95265" y="0"/>
                  </a:lnTo>
                  <a:lnTo>
                    <a:pt x="7461161" y="0"/>
                  </a:lnTo>
                  <a:lnTo>
                    <a:pt x="7498093" y="7535"/>
                  </a:lnTo>
                  <a:lnTo>
                    <a:pt x="7528390" y="28033"/>
                  </a:lnTo>
                  <a:lnTo>
                    <a:pt x="7548888" y="58330"/>
                  </a:lnTo>
                  <a:lnTo>
                    <a:pt x="7556423" y="95262"/>
                  </a:lnTo>
                  <a:lnTo>
                    <a:pt x="7556423" y="1725917"/>
                  </a:lnTo>
                  <a:lnTo>
                    <a:pt x="7548888" y="1762849"/>
                  </a:lnTo>
                  <a:lnTo>
                    <a:pt x="7528390" y="1793146"/>
                  </a:lnTo>
                  <a:lnTo>
                    <a:pt x="7498093" y="1813644"/>
                  </a:lnTo>
                  <a:lnTo>
                    <a:pt x="7461161" y="1821179"/>
                  </a:lnTo>
                  <a:lnTo>
                    <a:pt x="95265" y="1821179"/>
                  </a:lnTo>
                  <a:lnTo>
                    <a:pt x="58332" y="1813644"/>
                  </a:lnTo>
                  <a:lnTo>
                    <a:pt x="28034" y="1793146"/>
                  </a:lnTo>
                  <a:lnTo>
                    <a:pt x="7536" y="1762849"/>
                  </a:lnTo>
                  <a:lnTo>
                    <a:pt x="0" y="1725917"/>
                  </a:lnTo>
                  <a:lnTo>
                    <a:pt x="0" y="95262"/>
                  </a:lnTo>
                  <a:close/>
                </a:path>
              </a:pathLst>
            </a:custGeom>
            <a:ln w="7619">
              <a:solidFill>
                <a:srgbClr val="C7C9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81089" y="4846332"/>
            <a:ext cx="6902450" cy="2578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7015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52576B"/>
                </a:solidFill>
                <a:latin typeface="Arial"/>
                <a:cs typeface="Arial"/>
              </a:rPr>
              <a:t>Standard</a:t>
            </a:r>
            <a:r>
              <a:rPr dirty="0" sz="2200" spc="-10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2576B"/>
                </a:solidFill>
                <a:latin typeface="Arial"/>
                <a:cs typeface="Arial"/>
              </a:rPr>
              <a:t>Shipping</a:t>
            </a:r>
            <a:endParaRPr sz="2200">
              <a:latin typeface="Arial"/>
              <a:cs typeface="Arial"/>
            </a:endParaRPr>
          </a:p>
          <a:p>
            <a:pPr marL="247015">
              <a:lnSpc>
                <a:spcPct val="100000"/>
              </a:lnSpc>
              <a:spcBef>
                <a:spcPts val="1870"/>
              </a:spcBef>
            </a:pPr>
            <a:r>
              <a:rPr dirty="0" sz="1750" b="1">
                <a:solidFill>
                  <a:srgbClr val="52576B"/>
                </a:solidFill>
                <a:latin typeface="Arial"/>
                <a:cs typeface="Arial"/>
              </a:rPr>
              <a:t>$58.46</a:t>
            </a:r>
            <a:r>
              <a:rPr dirty="0" sz="1750" spc="-85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average</a:t>
            </a:r>
            <a:r>
              <a:rPr dirty="0" sz="1750" spc="-8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purchase</a:t>
            </a:r>
            <a:endParaRPr sz="1750">
              <a:latin typeface="Arial"/>
              <a:cs typeface="Arial"/>
            </a:endParaRPr>
          </a:p>
          <a:p>
            <a:pPr marL="247015">
              <a:lnSpc>
                <a:spcPct val="100000"/>
              </a:lnSpc>
              <a:spcBef>
                <a:spcPts val="183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Majority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of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customers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prefer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standard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delivery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option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0"/>
              </a:spcBef>
            </a:pPr>
            <a:endParaRPr sz="175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Express</a:t>
            </a:r>
            <a:r>
              <a:rPr dirty="0" sz="1750" spc="-7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shipping</a:t>
            </a:r>
            <a:r>
              <a:rPr dirty="0" sz="1750" spc="-7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users</a:t>
            </a:r>
            <a:r>
              <a:rPr dirty="0" sz="1750" spc="-7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represent</a:t>
            </a:r>
            <a:r>
              <a:rPr dirty="0" sz="1750" spc="-7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52576B"/>
                </a:solidFill>
                <a:latin typeface="Arial"/>
                <a:cs typeface="Arial"/>
              </a:rPr>
              <a:t>high-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value</a:t>
            </a:r>
            <a:r>
              <a:rPr dirty="0" sz="1750" spc="-7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customer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segment</a:t>
            </a:r>
            <a:r>
              <a:rPr dirty="0" sz="1750" spc="-7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worth targeting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4268" y="402425"/>
            <a:ext cx="4669790" cy="46735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/>
              <a:t>Subscription</a:t>
            </a:r>
            <a:r>
              <a:rPr dirty="0" sz="2900" spc="-65"/>
              <a:t> </a:t>
            </a:r>
            <a:r>
              <a:rPr dirty="0" sz="2900"/>
              <a:t>Status</a:t>
            </a:r>
            <a:r>
              <a:rPr dirty="0" sz="2900" spc="-65"/>
              <a:t> </a:t>
            </a:r>
            <a:r>
              <a:rPr dirty="0" sz="2900" spc="-10"/>
              <a:t>Analysis</a:t>
            </a:r>
            <a:endParaRPr sz="2900"/>
          </a:p>
        </p:txBody>
      </p:sp>
      <p:sp>
        <p:nvSpPr>
          <p:cNvPr id="3" name="object 3" descr=""/>
          <p:cNvSpPr txBox="1"/>
          <p:nvPr/>
        </p:nvSpPr>
        <p:spPr>
          <a:xfrm>
            <a:off x="3444807" y="2136254"/>
            <a:ext cx="762635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25">
                <a:solidFill>
                  <a:srgbClr val="52576B"/>
                </a:solidFill>
                <a:latin typeface="Arial"/>
                <a:cs typeface="Arial"/>
              </a:rPr>
              <a:t>27%</a:t>
            </a:r>
            <a:endParaRPr sz="29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8193" y="1293736"/>
            <a:ext cx="2215629" cy="221562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677061" y="3684930"/>
            <a:ext cx="2298700" cy="632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50" spc="-10">
                <a:solidFill>
                  <a:srgbClr val="52576B"/>
                </a:solidFill>
                <a:latin typeface="Arial"/>
                <a:cs typeface="Arial"/>
              </a:rPr>
              <a:t>Subscribers</a:t>
            </a:r>
            <a:endParaRPr sz="14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655"/>
              </a:spcBef>
            </a:pPr>
            <a:r>
              <a:rPr dirty="0" sz="1150">
                <a:solidFill>
                  <a:srgbClr val="52576B"/>
                </a:solidFill>
                <a:latin typeface="Arial"/>
                <a:cs typeface="Arial"/>
              </a:rPr>
              <a:t>1,053</a:t>
            </a:r>
            <a:r>
              <a:rPr dirty="0" sz="11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2576B"/>
                </a:solidFill>
                <a:latin typeface="Arial"/>
                <a:cs typeface="Arial"/>
              </a:rPr>
              <a:t>customers</a:t>
            </a:r>
            <a:r>
              <a:rPr dirty="0" sz="11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2576B"/>
                </a:solidFill>
                <a:latin typeface="Arial"/>
                <a:cs typeface="Arial"/>
              </a:rPr>
              <a:t>with</a:t>
            </a:r>
            <a:r>
              <a:rPr dirty="0" sz="11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52576B"/>
                </a:solidFill>
                <a:latin typeface="Arial"/>
                <a:cs typeface="Arial"/>
              </a:rPr>
              <a:t>subscriptions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444807" y="5483466"/>
            <a:ext cx="762635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25">
                <a:solidFill>
                  <a:srgbClr val="52576B"/>
                </a:solidFill>
                <a:latin typeface="Arial"/>
                <a:cs typeface="Arial"/>
              </a:rPr>
              <a:t>73%</a:t>
            </a:r>
            <a:endParaRPr sz="2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8193" y="4640935"/>
            <a:ext cx="2215629" cy="221562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575549" y="7032142"/>
            <a:ext cx="2500630" cy="632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50" spc="-20">
                <a:solidFill>
                  <a:srgbClr val="52576B"/>
                </a:solidFill>
                <a:latin typeface="Arial"/>
                <a:cs typeface="Arial"/>
              </a:rPr>
              <a:t>Non-</a:t>
            </a:r>
            <a:r>
              <a:rPr dirty="0" sz="1450" spc="-10">
                <a:solidFill>
                  <a:srgbClr val="52576B"/>
                </a:solidFill>
                <a:latin typeface="Arial"/>
                <a:cs typeface="Arial"/>
              </a:rPr>
              <a:t>Subscribers</a:t>
            </a:r>
            <a:endParaRPr sz="14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655"/>
              </a:spcBef>
            </a:pPr>
            <a:r>
              <a:rPr dirty="0" sz="1150">
                <a:solidFill>
                  <a:srgbClr val="52576B"/>
                </a:solidFill>
                <a:latin typeface="Arial"/>
                <a:cs typeface="Arial"/>
              </a:rPr>
              <a:t>2,847</a:t>
            </a:r>
            <a:r>
              <a:rPr dirty="0" sz="11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2576B"/>
                </a:solidFill>
                <a:latin typeface="Arial"/>
                <a:cs typeface="Arial"/>
              </a:rPr>
              <a:t>customers</a:t>
            </a:r>
            <a:r>
              <a:rPr dirty="0" sz="11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2576B"/>
                </a:solidFill>
                <a:latin typeface="Arial"/>
                <a:cs typeface="Arial"/>
              </a:rPr>
              <a:t>without</a:t>
            </a:r>
            <a:r>
              <a:rPr dirty="0" sz="11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52576B"/>
                </a:solidFill>
                <a:latin typeface="Arial"/>
                <a:cs typeface="Arial"/>
              </a:rPr>
              <a:t>subscriptions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490256" y="1235066"/>
            <a:ext cx="202946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373A47"/>
                </a:solidFill>
                <a:latin typeface="Arial"/>
                <a:cs typeface="Arial"/>
              </a:rPr>
              <a:t>Revenue</a:t>
            </a:r>
            <a:r>
              <a:rPr dirty="0" sz="1700" spc="-100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73A47"/>
                </a:solidFill>
                <a:latin typeface="Arial"/>
                <a:cs typeface="Arial"/>
              </a:rPr>
              <a:t>Breakdown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490256" y="1706854"/>
            <a:ext cx="3566160" cy="777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dirty="0" sz="1150" spc="-10">
                <a:solidFill>
                  <a:srgbClr val="52576B"/>
                </a:solidFill>
                <a:latin typeface="Arial"/>
                <a:cs typeface="Arial"/>
              </a:rPr>
              <a:t>Subscribers:</a:t>
            </a:r>
            <a:r>
              <a:rPr dirty="0" sz="11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2576B"/>
                </a:solidFill>
                <a:latin typeface="Arial"/>
                <a:cs typeface="Arial"/>
              </a:rPr>
              <a:t>$62,645</a:t>
            </a:r>
            <a:r>
              <a:rPr dirty="0" sz="11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2576B"/>
                </a:solidFill>
                <a:latin typeface="Arial"/>
                <a:cs typeface="Arial"/>
              </a:rPr>
              <a:t>total</a:t>
            </a:r>
            <a:r>
              <a:rPr dirty="0" sz="11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52576B"/>
                </a:solidFill>
                <a:latin typeface="Arial"/>
                <a:cs typeface="Arial"/>
              </a:rPr>
              <a:t>revenue</a:t>
            </a:r>
            <a:endParaRPr sz="11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85"/>
              </a:spcBef>
              <a:buChar char="•"/>
              <a:tabLst>
                <a:tab pos="354965" algn="l"/>
              </a:tabLst>
            </a:pPr>
            <a:r>
              <a:rPr dirty="0" sz="1150" spc="-10">
                <a:solidFill>
                  <a:srgbClr val="52576B"/>
                </a:solidFill>
                <a:latin typeface="Arial"/>
                <a:cs typeface="Arial"/>
              </a:rPr>
              <a:t>Non-</a:t>
            </a:r>
            <a:r>
              <a:rPr dirty="0" sz="1150">
                <a:solidFill>
                  <a:srgbClr val="52576B"/>
                </a:solidFill>
                <a:latin typeface="Arial"/>
                <a:cs typeface="Arial"/>
              </a:rPr>
              <a:t>subscribers:</a:t>
            </a:r>
            <a:r>
              <a:rPr dirty="0" sz="11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2576B"/>
                </a:solidFill>
                <a:latin typeface="Arial"/>
                <a:cs typeface="Arial"/>
              </a:rPr>
              <a:t>$170,436</a:t>
            </a:r>
            <a:r>
              <a:rPr dirty="0" sz="11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2576B"/>
                </a:solidFill>
                <a:latin typeface="Arial"/>
                <a:cs typeface="Arial"/>
              </a:rPr>
              <a:t>total</a:t>
            </a:r>
            <a:r>
              <a:rPr dirty="0" sz="11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52576B"/>
                </a:solidFill>
                <a:latin typeface="Arial"/>
                <a:cs typeface="Arial"/>
              </a:rPr>
              <a:t>revenue</a:t>
            </a:r>
            <a:endParaRPr sz="11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90"/>
              </a:spcBef>
              <a:buChar char="•"/>
              <a:tabLst>
                <a:tab pos="354965" algn="l"/>
              </a:tabLst>
            </a:pPr>
            <a:r>
              <a:rPr dirty="0" sz="1150">
                <a:solidFill>
                  <a:srgbClr val="52576B"/>
                </a:solidFill>
                <a:latin typeface="Arial"/>
                <a:cs typeface="Arial"/>
              </a:rPr>
              <a:t>Average</a:t>
            </a:r>
            <a:r>
              <a:rPr dirty="0" sz="11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2576B"/>
                </a:solidFill>
                <a:latin typeface="Arial"/>
                <a:cs typeface="Arial"/>
              </a:rPr>
              <a:t>spend</a:t>
            </a:r>
            <a:r>
              <a:rPr dirty="0" sz="11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2576B"/>
                </a:solidFill>
                <a:latin typeface="Arial"/>
                <a:cs typeface="Arial"/>
              </a:rPr>
              <a:t>nearly</a:t>
            </a:r>
            <a:r>
              <a:rPr dirty="0" sz="11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2576B"/>
                </a:solidFill>
                <a:latin typeface="Arial"/>
                <a:cs typeface="Arial"/>
              </a:rPr>
              <a:t>identical:</a:t>
            </a:r>
            <a:r>
              <a:rPr dirty="0" sz="11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2576B"/>
                </a:solidFill>
                <a:latin typeface="Arial"/>
                <a:cs typeface="Arial"/>
              </a:rPr>
              <a:t>$59.49</a:t>
            </a:r>
            <a:r>
              <a:rPr dirty="0" sz="11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2576B"/>
                </a:solidFill>
                <a:latin typeface="Arial"/>
                <a:cs typeface="Arial"/>
              </a:rPr>
              <a:t>vs</a:t>
            </a:r>
            <a:r>
              <a:rPr dirty="0" sz="11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52576B"/>
                </a:solidFill>
                <a:latin typeface="Arial"/>
                <a:cs typeface="Arial"/>
              </a:rPr>
              <a:t>$59.87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7502956" y="2641396"/>
            <a:ext cx="6618605" cy="864235"/>
            <a:chOff x="7502956" y="2641396"/>
            <a:chExt cx="6618605" cy="864235"/>
          </a:xfrm>
        </p:grpSpPr>
        <p:sp>
          <p:nvSpPr>
            <p:cNvPr id="12" name="object 12" descr=""/>
            <p:cNvSpPr/>
            <p:nvPr/>
          </p:nvSpPr>
          <p:spPr>
            <a:xfrm>
              <a:off x="7502956" y="2641396"/>
              <a:ext cx="6618605" cy="864235"/>
            </a:xfrm>
            <a:custGeom>
              <a:avLst/>
              <a:gdLst/>
              <a:ahLst/>
              <a:cxnLst/>
              <a:rect l="l" t="t" r="r" b="b"/>
              <a:pathLst>
                <a:path w="6618605" h="864235">
                  <a:moveTo>
                    <a:pt x="6556057" y="0"/>
                  </a:moveTo>
                  <a:lnTo>
                    <a:pt x="62037" y="0"/>
                  </a:lnTo>
                  <a:lnTo>
                    <a:pt x="37986" y="4907"/>
                  </a:lnTo>
                  <a:lnTo>
                    <a:pt x="18256" y="18256"/>
                  </a:lnTo>
                  <a:lnTo>
                    <a:pt x="4907" y="37986"/>
                  </a:lnTo>
                  <a:lnTo>
                    <a:pt x="0" y="62039"/>
                  </a:lnTo>
                  <a:lnTo>
                    <a:pt x="0" y="801877"/>
                  </a:lnTo>
                  <a:lnTo>
                    <a:pt x="4907" y="825930"/>
                  </a:lnTo>
                  <a:lnTo>
                    <a:pt x="18256" y="845661"/>
                  </a:lnTo>
                  <a:lnTo>
                    <a:pt x="37986" y="859010"/>
                  </a:lnTo>
                  <a:lnTo>
                    <a:pt x="62037" y="863917"/>
                  </a:lnTo>
                  <a:lnTo>
                    <a:pt x="6556057" y="863917"/>
                  </a:lnTo>
                  <a:lnTo>
                    <a:pt x="6580102" y="859010"/>
                  </a:lnTo>
                  <a:lnTo>
                    <a:pt x="6599829" y="845661"/>
                  </a:lnTo>
                  <a:lnTo>
                    <a:pt x="6613177" y="825930"/>
                  </a:lnTo>
                  <a:lnTo>
                    <a:pt x="6618084" y="801877"/>
                  </a:lnTo>
                  <a:lnTo>
                    <a:pt x="6618084" y="62039"/>
                  </a:lnTo>
                  <a:lnTo>
                    <a:pt x="6613177" y="37986"/>
                  </a:lnTo>
                  <a:lnTo>
                    <a:pt x="6599829" y="18256"/>
                  </a:lnTo>
                  <a:lnTo>
                    <a:pt x="6580102" y="4907"/>
                  </a:lnTo>
                  <a:lnTo>
                    <a:pt x="6556057" y="0"/>
                  </a:lnTo>
                  <a:close/>
                </a:path>
              </a:pathLst>
            </a:custGeom>
            <a:solidFill>
              <a:srgbClr val="D3D5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50594" y="2864408"/>
              <a:ext cx="184546" cy="147637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7970087" y="2869856"/>
            <a:ext cx="595757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Massive</a:t>
            </a:r>
            <a:r>
              <a:rPr dirty="0" sz="1150" spc="-2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opportunity:</a:t>
            </a:r>
            <a:r>
              <a:rPr dirty="0" sz="1150" spc="-2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Converting</a:t>
            </a:r>
            <a:r>
              <a:rPr dirty="0" sz="1150" spc="-2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non-subscribers</a:t>
            </a:r>
            <a:r>
              <a:rPr dirty="0" sz="1150" spc="-2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could</a:t>
            </a:r>
            <a:r>
              <a:rPr dirty="0" sz="1150" spc="-1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significantly</a:t>
            </a:r>
            <a:r>
              <a:rPr dirty="0" sz="1150" spc="-2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boost</a:t>
            </a:r>
            <a:r>
              <a:rPr dirty="0" sz="1150" spc="-2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recurring</a:t>
            </a:r>
            <a:r>
              <a:rPr dirty="0" sz="1150" spc="-2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revenue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089" y="1209432"/>
            <a:ext cx="8217534" cy="703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17470" algn="l"/>
                <a:tab pos="6259195" algn="l"/>
              </a:tabLst>
            </a:pPr>
            <a:r>
              <a:rPr dirty="0" spc="-10"/>
              <a:t>Customer</a:t>
            </a:r>
            <a:r>
              <a:rPr dirty="0"/>
              <a:t>	</a:t>
            </a:r>
            <a:r>
              <a:rPr dirty="0" spc="-10"/>
              <a:t>Segmentation</a:t>
            </a:r>
            <a:r>
              <a:rPr dirty="0"/>
              <a:t>	</a:t>
            </a:r>
            <a:r>
              <a:rPr dirty="0" spc="-10"/>
              <a:t>Insights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8353" y="2369820"/>
            <a:ext cx="2152053" cy="1306944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826293" y="3689870"/>
            <a:ext cx="12954000" cy="2714625"/>
            <a:chOff x="826293" y="3689870"/>
            <a:chExt cx="12954000" cy="2714625"/>
          </a:xfrm>
        </p:grpSpPr>
        <p:sp>
          <p:nvSpPr>
            <p:cNvPr id="5" name="object 5" descr=""/>
            <p:cNvSpPr/>
            <p:nvPr/>
          </p:nvSpPr>
          <p:spPr>
            <a:xfrm>
              <a:off x="5187073" y="3689870"/>
              <a:ext cx="8593455" cy="15240"/>
            </a:xfrm>
            <a:custGeom>
              <a:avLst/>
              <a:gdLst/>
              <a:ahLst/>
              <a:cxnLst/>
              <a:rect l="l" t="t" r="r" b="b"/>
              <a:pathLst>
                <a:path w="8593455" h="15239">
                  <a:moveTo>
                    <a:pt x="8589416" y="0"/>
                  </a:moveTo>
                  <a:lnTo>
                    <a:pt x="3439" y="0"/>
                  </a:lnTo>
                  <a:lnTo>
                    <a:pt x="0" y="3441"/>
                  </a:lnTo>
                  <a:lnTo>
                    <a:pt x="0" y="7620"/>
                  </a:lnTo>
                  <a:lnTo>
                    <a:pt x="0" y="11798"/>
                  </a:lnTo>
                  <a:lnTo>
                    <a:pt x="3439" y="15240"/>
                  </a:lnTo>
                  <a:lnTo>
                    <a:pt x="8589416" y="15240"/>
                  </a:lnTo>
                  <a:lnTo>
                    <a:pt x="8592858" y="11798"/>
                  </a:lnTo>
                  <a:lnTo>
                    <a:pt x="8592858" y="3441"/>
                  </a:lnTo>
                  <a:lnTo>
                    <a:pt x="8589416" y="0"/>
                  </a:lnTo>
                  <a:close/>
                </a:path>
              </a:pathLst>
            </a:custGeom>
            <a:solidFill>
              <a:srgbClr val="C7C9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2383" y="3733444"/>
              <a:ext cx="4304106" cy="1306944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263170" y="5053494"/>
              <a:ext cx="7517130" cy="15240"/>
            </a:xfrm>
            <a:custGeom>
              <a:avLst/>
              <a:gdLst/>
              <a:ahLst/>
              <a:cxnLst/>
              <a:rect l="l" t="t" r="r" b="b"/>
              <a:pathLst>
                <a:path w="7517130" h="15239">
                  <a:moveTo>
                    <a:pt x="7513332" y="0"/>
                  </a:moveTo>
                  <a:lnTo>
                    <a:pt x="3439" y="0"/>
                  </a:lnTo>
                  <a:lnTo>
                    <a:pt x="0" y="3441"/>
                  </a:lnTo>
                  <a:lnTo>
                    <a:pt x="0" y="7620"/>
                  </a:lnTo>
                  <a:lnTo>
                    <a:pt x="0" y="11798"/>
                  </a:lnTo>
                  <a:lnTo>
                    <a:pt x="3439" y="15240"/>
                  </a:lnTo>
                  <a:lnTo>
                    <a:pt x="7513332" y="15240"/>
                  </a:lnTo>
                  <a:lnTo>
                    <a:pt x="7516774" y="11798"/>
                  </a:lnTo>
                  <a:lnTo>
                    <a:pt x="7516774" y="3441"/>
                  </a:lnTo>
                  <a:lnTo>
                    <a:pt x="7513332" y="0"/>
                  </a:lnTo>
                  <a:close/>
                </a:path>
              </a:pathLst>
            </a:custGeom>
            <a:solidFill>
              <a:srgbClr val="C7C9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293" y="5097068"/>
              <a:ext cx="6456159" cy="1306944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57581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Loyal</a:t>
            </a:r>
          </a:p>
          <a:p>
            <a:pPr marL="4575810">
              <a:lnSpc>
                <a:spcPct val="100000"/>
              </a:lnSpc>
              <a:spcBef>
                <a:spcPts val="1870"/>
              </a:spcBef>
            </a:pPr>
            <a:r>
              <a:rPr dirty="0" sz="1750"/>
              <a:t>3,116</a:t>
            </a:r>
            <a:r>
              <a:rPr dirty="0" sz="1750" spc="-60"/>
              <a:t> </a:t>
            </a:r>
            <a:r>
              <a:rPr dirty="0" sz="1750" spc="-10"/>
              <a:t>customers</a:t>
            </a:r>
            <a:endParaRPr sz="1750"/>
          </a:p>
          <a:p>
            <a:pPr>
              <a:lnSpc>
                <a:spcPct val="100000"/>
              </a:lnSpc>
            </a:pPr>
            <a:endParaRPr sz="1750"/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750"/>
          </a:p>
          <a:p>
            <a:pPr marL="5652135">
              <a:lnSpc>
                <a:spcPct val="100000"/>
              </a:lnSpc>
            </a:pPr>
            <a:r>
              <a:rPr dirty="0" spc="-10"/>
              <a:t>Returning</a:t>
            </a:r>
          </a:p>
          <a:p>
            <a:pPr marL="5652135">
              <a:lnSpc>
                <a:spcPct val="100000"/>
              </a:lnSpc>
              <a:spcBef>
                <a:spcPts val="1870"/>
              </a:spcBef>
            </a:pPr>
            <a:r>
              <a:rPr dirty="0" sz="1750"/>
              <a:t>701</a:t>
            </a:r>
            <a:r>
              <a:rPr dirty="0" sz="1750" spc="-40"/>
              <a:t> </a:t>
            </a:r>
            <a:r>
              <a:rPr dirty="0" sz="1750" spc="-10"/>
              <a:t>customers</a:t>
            </a:r>
            <a:endParaRPr sz="1750"/>
          </a:p>
          <a:p>
            <a:pPr>
              <a:lnSpc>
                <a:spcPct val="100000"/>
              </a:lnSpc>
            </a:pPr>
            <a:endParaRPr sz="1750"/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750"/>
          </a:p>
          <a:p>
            <a:pPr marL="6727825">
              <a:lnSpc>
                <a:spcPct val="100000"/>
              </a:lnSpc>
            </a:pPr>
            <a:r>
              <a:rPr dirty="0" spc="-25"/>
              <a:t>New</a:t>
            </a:r>
          </a:p>
          <a:p>
            <a:pPr marL="6727825">
              <a:lnSpc>
                <a:spcPct val="100000"/>
              </a:lnSpc>
              <a:spcBef>
                <a:spcPts val="1870"/>
              </a:spcBef>
            </a:pPr>
            <a:r>
              <a:rPr dirty="0" sz="1750"/>
              <a:t>83</a:t>
            </a:r>
            <a:r>
              <a:rPr dirty="0" sz="1750" spc="-25"/>
              <a:t> </a:t>
            </a:r>
            <a:r>
              <a:rPr dirty="0" sz="1750" spc="-10"/>
              <a:t>customers</a:t>
            </a:r>
            <a:endParaRPr sz="1750"/>
          </a:p>
          <a:p>
            <a:pPr>
              <a:lnSpc>
                <a:spcPct val="100000"/>
              </a:lnSpc>
            </a:pPr>
            <a:endParaRPr sz="1750"/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75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50"/>
              <a:t>80%</a:t>
            </a:r>
            <a:r>
              <a:rPr dirty="0" sz="1750" spc="-60"/>
              <a:t> </a:t>
            </a:r>
            <a:r>
              <a:rPr dirty="0" sz="1750"/>
              <a:t>of</a:t>
            </a:r>
            <a:r>
              <a:rPr dirty="0" sz="1750" spc="-60"/>
              <a:t> </a:t>
            </a:r>
            <a:r>
              <a:rPr dirty="0" sz="1750"/>
              <a:t>customer</a:t>
            </a:r>
            <a:r>
              <a:rPr dirty="0" sz="1750" spc="-60"/>
              <a:t> </a:t>
            </a:r>
            <a:r>
              <a:rPr dirty="0" sz="1750"/>
              <a:t>base</a:t>
            </a:r>
            <a:r>
              <a:rPr dirty="0" sz="1750" spc="-60"/>
              <a:t> </a:t>
            </a:r>
            <a:r>
              <a:rPr dirty="0" sz="1750"/>
              <a:t>classified</a:t>
            </a:r>
            <a:r>
              <a:rPr dirty="0" sz="1750" spc="-55"/>
              <a:t> </a:t>
            </a:r>
            <a:r>
              <a:rPr dirty="0" sz="1750"/>
              <a:t>as</a:t>
            </a:r>
            <a:r>
              <a:rPr dirty="0" sz="1750" spc="-60"/>
              <a:t> </a:t>
            </a:r>
            <a:r>
              <a:rPr dirty="0" sz="1750"/>
              <a:t>loyal</a:t>
            </a:r>
            <a:r>
              <a:rPr dirty="0" sz="1750" spc="-60"/>
              <a:t> </a:t>
            </a:r>
            <a:r>
              <a:rPr dirty="0" sz="1750"/>
              <a:t>-</a:t>
            </a:r>
            <a:r>
              <a:rPr dirty="0" sz="1750" spc="-60"/>
              <a:t> </a:t>
            </a:r>
            <a:r>
              <a:rPr dirty="0" sz="1750"/>
              <a:t>strong</a:t>
            </a:r>
            <a:r>
              <a:rPr dirty="0" sz="1750" spc="-55"/>
              <a:t> </a:t>
            </a:r>
            <a:r>
              <a:rPr dirty="0" sz="1750"/>
              <a:t>retention</a:t>
            </a:r>
            <a:r>
              <a:rPr dirty="0" sz="1750" spc="-60"/>
              <a:t> </a:t>
            </a:r>
            <a:r>
              <a:rPr dirty="0" sz="1750"/>
              <a:t>foundation</a:t>
            </a:r>
            <a:r>
              <a:rPr dirty="0" sz="1750" spc="-60"/>
              <a:t> </a:t>
            </a:r>
            <a:r>
              <a:rPr dirty="0" sz="1750"/>
              <a:t>with</a:t>
            </a:r>
            <a:r>
              <a:rPr dirty="0" sz="1750" spc="-60"/>
              <a:t> </a:t>
            </a:r>
            <a:r>
              <a:rPr dirty="0" sz="1750"/>
              <a:t>opportunity</a:t>
            </a:r>
            <a:r>
              <a:rPr dirty="0" sz="1750" spc="-55"/>
              <a:t> </a:t>
            </a:r>
            <a:r>
              <a:rPr dirty="0" sz="1750"/>
              <a:t>to</a:t>
            </a:r>
            <a:r>
              <a:rPr dirty="0" sz="1750" spc="-60"/>
              <a:t> </a:t>
            </a:r>
            <a:r>
              <a:rPr dirty="0" sz="1750"/>
              <a:t>convert</a:t>
            </a:r>
            <a:r>
              <a:rPr dirty="0" sz="1750" spc="-60"/>
              <a:t> </a:t>
            </a:r>
            <a:r>
              <a:rPr dirty="0" sz="1750"/>
              <a:t>returning</a:t>
            </a:r>
            <a:r>
              <a:rPr dirty="0" sz="1750" spc="-60"/>
              <a:t> </a:t>
            </a:r>
            <a:r>
              <a:rPr dirty="0" sz="1750" spc="-10"/>
              <a:t>customers</a:t>
            </a:r>
            <a:endParaRPr sz="17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9512" y="442152"/>
            <a:ext cx="4206240" cy="50545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/>
              <a:t>Revenue</a:t>
            </a:r>
            <a:r>
              <a:rPr dirty="0" sz="3150" spc="-25"/>
              <a:t> </a:t>
            </a:r>
            <a:r>
              <a:rPr dirty="0" sz="3150"/>
              <a:t>by</a:t>
            </a:r>
            <a:r>
              <a:rPr dirty="0" sz="3150" spc="-10"/>
              <a:t> </a:t>
            </a:r>
            <a:r>
              <a:rPr dirty="0" sz="3150"/>
              <a:t>Age</a:t>
            </a:r>
            <a:r>
              <a:rPr dirty="0" sz="3150" spc="-10"/>
              <a:t> Group</a:t>
            </a:r>
            <a:endParaRPr sz="31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212" y="1264919"/>
            <a:ext cx="13999582" cy="6964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089" y="648408"/>
            <a:ext cx="7118984" cy="703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98395" algn="l"/>
              </a:tabLst>
            </a:pPr>
            <a:r>
              <a:rPr dirty="0" spc="-10"/>
              <a:t>Strategic</a:t>
            </a:r>
            <a:r>
              <a:rPr dirty="0"/>
              <a:t>	</a:t>
            </a:r>
            <a:r>
              <a:rPr dirty="0" spc="-10"/>
              <a:t>Recommendations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89979" y="1804987"/>
            <a:ext cx="4204335" cy="2962910"/>
            <a:chOff x="789979" y="1804987"/>
            <a:chExt cx="4204335" cy="2962910"/>
          </a:xfrm>
        </p:grpSpPr>
        <p:sp>
          <p:nvSpPr>
            <p:cNvPr id="4" name="object 4" descr=""/>
            <p:cNvSpPr/>
            <p:nvPr/>
          </p:nvSpPr>
          <p:spPr>
            <a:xfrm>
              <a:off x="793789" y="1808797"/>
              <a:ext cx="4196715" cy="2955290"/>
            </a:xfrm>
            <a:custGeom>
              <a:avLst/>
              <a:gdLst/>
              <a:ahLst/>
              <a:cxnLst/>
              <a:rect l="l" t="t" r="r" b="b"/>
              <a:pathLst>
                <a:path w="4196715" h="2955290">
                  <a:moveTo>
                    <a:pt x="4101084" y="0"/>
                  </a:moveTo>
                  <a:lnTo>
                    <a:pt x="95277" y="0"/>
                  </a:lnTo>
                  <a:lnTo>
                    <a:pt x="58339" y="7537"/>
                  </a:lnTo>
                  <a:lnTo>
                    <a:pt x="28038" y="28040"/>
                  </a:lnTo>
                  <a:lnTo>
                    <a:pt x="7536" y="58341"/>
                  </a:lnTo>
                  <a:lnTo>
                    <a:pt x="0" y="95275"/>
                  </a:lnTo>
                  <a:lnTo>
                    <a:pt x="0" y="2859976"/>
                  </a:lnTo>
                  <a:lnTo>
                    <a:pt x="7536" y="2896910"/>
                  </a:lnTo>
                  <a:lnTo>
                    <a:pt x="28038" y="2927211"/>
                  </a:lnTo>
                  <a:lnTo>
                    <a:pt x="58339" y="2947714"/>
                  </a:lnTo>
                  <a:lnTo>
                    <a:pt x="95277" y="2955251"/>
                  </a:lnTo>
                  <a:lnTo>
                    <a:pt x="4101084" y="2955251"/>
                  </a:lnTo>
                  <a:lnTo>
                    <a:pt x="4138018" y="2947714"/>
                  </a:lnTo>
                  <a:lnTo>
                    <a:pt x="4168319" y="2927211"/>
                  </a:lnTo>
                  <a:lnTo>
                    <a:pt x="4188821" y="2896910"/>
                  </a:lnTo>
                  <a:lnTo>
                    <a:pt x="4196359" y="2859976"/>
                  </a:lnTo>
                  <a:lnTo>
                    <a:pt x="4196359" y="95275"/>
                  </a:lnTo>
                  <a:lnTo>
                    <a:pt x="4188821" y="58341"/>
                  </a:lnTo>
                  <a:lnTo>
                    <a:pt x="4168319" y="28040"/>
                  </a:lnTo>
                  <a:lnTo>
                    <a:pt x="4138018" y="7537"/>
                  </a:lnTo>
                  <a:lnTo>
                    <a:pt x="4101084" y="0"/>
                  </a:lnTo>
                  <a:close/>
                </a:path>
              </a:pathLst>
            </a:custGeom>
            <a:solidFill>
              <a:srgbClr val="E1E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93789" y="1808797"/>
              <a:ext cx="4196715" cy="2955290"/>
            </a:xfrm>
            <a:custGeom>
              <a:avLst/>
              <a:gdLst/>
              <a:ahLst/>
              <a:cxnLst/>
              <a:rect l="l" t="t" r="r" b="b"/>
              <a:pathLst>
                <a:path w="4196715" h="2955290">
                  <a:moveTo>
                    <a:pt x="0" y="95275"/>
                  </a:moveTo>
                  <a:lnTo>
                    <a:pt x="7536" y="58341"/>
                  </a:lnTo>
                  <a:lnTo>
                    <a:pt x="28038" y="28040"/>
                  </a:lnTo>
                  <a:lnTo>
                    <a:pt x="58339" y="7537"/>
                  </a:lnTo>
                  <a:lnTo>
                    <a:pt x="95277" y="0"/>
                  </a:lnTo>
                  <a:lnTo>
                    <a:pt x="4101084" y="0"/>
                  </a:lnTo>
                  <a:lnTo>
                    <a:pt x="4138018" y="7537"/>
                  </a:lnTo>
                  <a:lnTo>
                    <a:pt x="4168319" y="28040"/>
                  </a:lnTo>
                  <a:lnTo>
                    <a:pt x="4188821" y="58341"/>
                  </a:lnTo>
                  <a:lnTo>
                    <a:pt x="4196359" y="95275"/>
                  </a:lnTo>
                  <a:lnTo>
                    <a:pt x="4196359" y="2859976"/>
                  </a:lnTo>
                  <a:lnTo>
                    <a:pt x="4188821" y="2896910"/>
                  </a:lnTo>
                  <a:lnTo>
                    <a:pt x="4168319" y="2927211"/>
                  </a:lnTo>
                  <a:lnTo>
                    <a:pt x="4138018" y="2947714"/>
                  </a:lnTo>
                  <a:lnTo>
                    <a:pt x="4101084" y="2955251"/>
                  </a:lnTo>
                  <a:lnTo>
                    <a:pt x="95277" y="2955251"/>
                  </a:lnTo>
                  <a:lnTo>
                    <a:pt x="58339" y="2947714"/>
                  </a:lnTo>
                  <a:lnTo>
                    <a:pt x="28038" y="2927211"/>
                  </a:lnTo>
                  <a:lnTo>
                    <a:pt x="7536" y="2896910"/>
                  </a:lnTo>
                  <a:lnTo>
                    <a:pt x="0" y="2859976"/>
                  </a:lnTo>
                  <a:lnTo>
                    <a:pt x="0" y="95275"/>
                  </a:lnTo>
                  <a:close/>
                </a:path>
              </a:pathLst>
            </a:custGeom>
            <a:ln w="7619">
              <a:solidFill>
                <a:srgbClr val="C7C9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28223" y="2043226"/>
              <a:ext cx="680720" cy="680720"/>
            </a:xfrm>
            <a:custGeom>
              <a:avLst/>
              <a:gdLst/>
              <a:ahLst/>
              <a:cxnLst/>
              <a:rect l="l" t="t" r="r" b="b"/>
              <a:pathLst>
                <a:path w="680719" h="680719">
                  <a:moveTo>
                    <a:pt x="340221" y="0"/>
                  </a:moveTo>
                  <a:lnTo>
                    <a:pt x="294319" y="3129"/>
                  </a:lnTo>
                  <a:lnTo>
                    <a:pt x="250214" y="12240"/>
                  </a:lnTo>
                  <a:lnTo>
                    <a:pt x="208323" y="26913"/>
                  </a:lnTo>
                  <a:lnTo>
                    <a:pt x="169064" y="46729"/>
                  </a:lnTo>
                  <a:lnTo>
                    <a:pt x="132857" y="71271"/>
                  </a:lnTo>
                  <a:lnTo>
                    <a:pt x="100120" y="100120"/>
                  </a:lnTo>
                  <a:lnTo>
                    <a:pt x="71271" y="132857"/>
                  </a:lnTo>
                  <a:lnTo>
                    <a:pt x="46729" y="169064"/>
                  </a:lnTo>
                  <a:lnTo>
                    <a:pt x="26913" y="208322"/>
                  </a:lnTo>
                  <a:lnTo>
                    <a:pt x="12240" y="250213"/>
                  </a:lnTo>
                  <a:lnTo>
                    <a:pt x="3129" y="294318"/>
                  </a:lnTo>
                  <a:lnTo>
                    <a:pt x="0" y="340220"/>
                  </a:lnTo>
                  <a:lnTo>
                    <a:pt x="3129" y="386121"/>
                  </a:lnTo>
                  <a:lnTo>
                    <a:pt x="12240" y="430227"/>
                  </a:lnTo>
                  <a:lnTo>
                    <a:pt x="26913" y="472118"/>
                  </a:lnTo>
                  <a:lnTo>
                    <a:pt x="46729" y="511376"/>
                  </a:lnTo>
                  <a:lnTo>
                    <a:pt x="71271" y="547583"/>
                  </a:lnTo>
                  <a:lnTo>
                    <a:pt x="100120" y="580320"/>
                  </a:lnTo>
                  <a:lnTo>
                    <a:pt x="132857" y="609168"/>
                  </a:lnTo>
                  <a:lnTo>
                    <a:pt x="169064" y="633710"/>
                  </a:lnTo>
                  <a:lnTo>
                    <a:pt x="208323" y="653527"/>
                  </a:lnTo>
                  <a:lnTo>
                    <a:pt x="250214" y="668200"/>
                  </a:lnTo>
                  <a:lnTo>
                    <a:pt x="294319" y="677310"/>
                  </a:lnTo>
                  <a:lnTo>
                    <a:pt x="340221" y="680440"/>
                  </a:lnTo>
                  <a:lnTo>
                    <a:pt x="386122" y="677310"/>
                  </a:lnTo>
                  <a:lnTo>
                    <a:pt x="430228" y="668200"/>
                  </a:lnTo>
                  <a:lnTo>
                    <a:pt x="472119" y="653527"/>
                  </a:lnTo>
                  <a:lnTo>
                    <a:pt x="511377" y="633710"/>
                  </a:lnTo>
                  <a:lnTo>
                    <a:pt x="547584" y="609168"/>
                  </a:lnTo>
                  <a:lnTo>
                    <a:pt x="580321" y="580320"/>
                  </a:lnTo>
                  <a:lnTo>
                    <a:pt x="609170" y="547583"/>
                  </a:lnTo>
                  <a:lnTo>
                    <a:pt x="633711" y="511376"/>
                  </a:lnTo>
                  <a:lnTo>
                    <a:pt x="653528" y="472118"/>
                  </a:lnTo>
                  <a:lnTo>
                    <a:pt x="668201" y="430227"/>
                  </a:lnTo>
                  <a:lnTo>
                    <a:pt x="677312" y="386121"/>
                  </a:lnTo>
                  <a:lnTo>
                    <a:pt x="680441" y="340220"/>
                  </a:lnTo>
                  <a:lnTo>
                    <a:pt x="677312" y="294318"/>
                  </a:lnTo>
                  <a:lnTo>
                    <a:pt x="668201" y="250213"/>
                  </a:lnTo>
                  <a:lnTo>
                    <a:pt x="653528" y="208322"/>
                  </a:lnTo>
                  <a:lnTo>
                    <a:pt x="633711" y="169064"/>
                  </a:lnTo>
                  <a:lnTo>
                    <a:pt x="609170" y="132857"/>
                  </a:lnTo>
                  <a:lnTo>
                    <a:pt x="580321" y="100120"/>
                  </a:lnTo>
                  <a:lnTo>
                    <a:pt x="547584" y="71271"/>
                  </a:lnTo>
                  <a:lnTo>
                    <a:pt x="511377" y="46729"/>
                  </a:lnTo>
                  <a:lnTo>
                    <a:pt x="472119" y="26913"/>
                  </a:lnTo>
                  <a:lnTo>
                    <a:pt x="430228" y="12240"/>
                  </a:lnTo>
                  <a:lnTo>
                    <a:pt x="386122" y="3129"/>
                  </a:lnTo>
                  <a:lnTo>
                    <a:pt x="340221" y="0"/>
                  </a:lnTo>
                  <a:close/>
                </a:path>
              </a:pathLst>
            </a:custGeom>
            <a:solidFill>
              <a:srgbClr val="373A4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5390" y="2230285"/>
              <a:ext cx="306109" cy="306108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015523" y="2945853"/>
            <a:ext cx="3716020" cy="1227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52576B"/>
                </a:solidFill>
                <a:latin typeface="Arial"/>
                <a:cs typeface="Arial"/>
              </a:rPr>
              <a:t>Boost</a:t>
            </a:r>
            <a:r>
              <a:rPr dirty="0" sz="220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2576B"/>
                </a:solidFill>
                <a:latin typeface="Arial"/>
                <a:cs typeface="Arial"/>
              </a:rPr>
              <a:t>Subscriptions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Promote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exclusive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benefits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convert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73%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non-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subscriber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52576B"/>
                </a:solidFill>
                <a:latin typeface="Arial"/>
                <a:cs typeface="Arial"/>
              </a:rPr>
              <a:t>base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213146" y="1804987"/>
            <a:ext cx="4204335" cy="2962910"/>
            <a:chOff x="5213146" y="1804987"/>
            <a:chExt cx="4204335" cy="2962910"/>
          </a:xfrm>
        </p:grpSpPr>
        <p:sp>
          <p:nvSpPr>
            <p:cNvPr id="10" name="object 10" descr=""/>
            <p:cNvSpPr/>
            <p:nvPr/>
          </p:nvSpPr>
          <p:spPr>
            <a:xfrm>
              <a:off x="5216956" y="1808797"/>
              <a:ext cx="4196715" cy="2955290"/>
            </a:xfrm>
            <a:custGeom>
              <a:avLst/>
              <a:gdLst/>
              <a:ahLst/>
              <a:cxnLst/>
              <a:rect l="l" t="t" r="r" b="b"/>
              <a:pathLst>
                <a:path w="4196715" h="2955290">
                  <a:moveTo>
                    <a:pt x="4101084" y="0"/>
                  </a:moveTo>
                  <a:lnTo>
                    <a:pt x="95277" y="0"/>
                  </a:lnTo>
                  <a:lnTo>
                    <a:pt x="58339" y="7537"/>
                  </a:lnTo>
                  <a:lnTo>
                    <a:pt x="28038" y="28040"/>
                  </a:lnTo>
                  <a:lnTo>
                    <a:pt x="7536" y="58341"/>
                  </a:lnTo>
                  <a:lnTo>
                    <a:pt x="0" y="95275"/>
                  </a:lnTo>
                  <a:lnTo>
                    <a:pt x="0" y="2859976"/>
                  </a:lnTo>
                  <a:lnTo>
                    <a:pt x="7536" y="2896910"/>
                  </a:lnTo>
                  <a:lnTo>
                    <a:pt x="28038" y="2927211"/>
                  </a:lnTo>
                  <a:lnTo>
                    <a:pt x="58339" y="2947714"/>
                  </a:lnTo>
                  <a:lnTo>
                    <a:pt x="95277" y="2955251"/>
                  </a:lnTo>
                  <a:lnTo>
                    <a:pt x="4101084" y="2955251"/>
                  </a:lnTo>
                  <a:lnTo>
                    <a:pt x="4138018" y="2947714"/>
                  </a:lnTo>
                  <a:lnTo>
                    <a:pt x="4168319" y="2927211"/>
                  </a:lnTo>
                  <a:lnTo>
                    <a:pt x="4188821" y="2896910"/>
                  </a:lnTo>
                  <a:lnTo>
                    <a:pt x="4196359" y="2859976"/>
                  </a:lnTo>
                  <a:lnTo>
                    <a:pt x="4196359" y="95275"/>
                  </a:lnTo>
                  <a:lnTo>
                    <a:pt x="4188821" y="58341"/>
                  </a:lnTo>
                  <a:lnTo>
                    <a:pt x="4168319" y="28040"/>
                  </a:lnTo>
                  <a:lnTo>
                    <a:pt x="4138018" y="7537"/>
                  </a:lnTo>
                  <a:lnTo>
                    <a:pt x="4101084" y="0"/>
                  </a:lnTo>
                  <a:close/>
                </a:path>
              </a:pathLst>
            </a:custGeom>
            <a:solidFill>
              <a:srgbClr val="E1E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216956" y="1808797"/>
              <a:ext cx="4196715" cy="2955290"/>
            </a:xfrm>
            <a:custGeom>
              <a:avLst/>
              <a:gdLst/>
              <a:ahLst/>
              <a:cxnLst/>
              <a:rect l="l" t="t" r="r" b="b"/>
              <a:pathLst>
                <a:path w="4196715" h="2955290">
                  <a:moveTo>
                    <a:pt x="0" y="95275"/>
                  </a:moveTo>
                  <a:lnTo>
                    <a:pt x="7536" y="58341"/>
                  </a:lnTo>
                  <a:lnTo>
                    <a:pt x="28038" y="28040"/>
                  </a:lnTo>
                  <a:lnTo>
                    <a:pt x="58339" y="7537"/>
                  </a:lnTo>
                  <a:lnTo>
                    <a:pt x="95277" y="0"/>
                  </a:lnTo>
                  <a:lnTo>
                    <a:pt x="4101084" y="0"/>
                  </a:lnTo>
                  <a:lnTo>
                    <a:pt x="4138018" y="7537"/>
                  </a:lnTo>
                  <a:lnTo>
                    <a:pt x="4168319" y="28040"/>
                  </a:lnTo>
                  <a:lnTo>
                    <a:pt x="4188821" y="58341"/>
                  </a:lnTo>
                  <a:lnTo>
                    <a:pt x="4196359" y="95275"/>
                  </a:lnTo>
                  <a:lnTo>
                    <a:pt x="4196359" y="2859976"/>
                  </a:lnTo>
                  <a:lnTo>
                    <a:pt x="4188821" y="2896910"/>
                  </a:lnTo>
                  <a:lnTo>
                    <a:pt x="4168319" y="2927211"/>
                  </a:lnTo>
                  <a:lnTo>
                    <a:pt x="4138018" y="2947714"/>
                  </a:lnTo>
                  <a:lnTo>
                    <a:pt x="4101084" y="2955251"/>
                  </a:lnTo>
                  <a:lnTo>
                    <a:pt x="95277" y="2955251"/>
                  </a:lnTo>
                  <a:lnTo>
                    <a:pt x="58339" y="2947714"/>
                  </a:lnTo>
                  <a:lnTo>
                    <a:pt x="28038" y="2927211"/>
                  </a:lnTo>
                  <a:lnTo>
                    <a:pt x="7536" y="2896910"/>
                  </a:lnTo>
                  <a:lnTo>
                    <a:pt x="0" y="2859976"/>
                  </a:lnTo>
                  <a:lnTo>
                    <a:pt x="0" y="95275"/>
                  </a:lnTo>
                  <a:close/>
                </a:path>
              </a:pathLst>
            </a:custGeom>
            <a:ln w="7619">
              <a:solidFill>
                <a:srgbClr val="C7C9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451398" y="2043226"/>
              <a:ext cx="680720" cy="680720"/>
            </a:xfrm>
            <a:custGeom>
              <a:avLst/>
              <a:gdLst/>
              <a:ahLst/>
              <a:cxnLst/>
              <a:rect l="l" t="t" r="r" b="b"/>
              <a:pathLst>
                <a:path w="680720" h="680719">
                  <a:moveTo>
                    <a:pt x="340221" y="0"/>
                  </a:moveTo>
                  <a:lnTo>
                    <a:pt x="294319" y="3129"/>
                  </a:lnTo>
                  <a:lnTo>
                    <a:pt x="250214" y="12240"/>
                  </a:lnTo>
                  <a:lnTo>
                    <a:pt x="208323" y="26913"/>
                  </a:lnTo>
                  <a:lnTo>
                    <a:pt x="169064" y="46729"/>
                  </a:lnTo>
                  <a:lnTo>
                    <a:pt x="132857" y="71271"/>
                  </a:lnTo>
                  <a:lnTo>
                    <a:pt x="100120" y="100120"/>
                  </a:lnTo>
                  <a:lnTo>
                    <a:pt x="71271" y="132857"/>
                  </a:lnTo>
                  <a:lnTo>
                    <a:pt x="46729" y="169064"/>
                  </a:lnTo>
                  <a:lnTo>
                    <a:pt x="26913" y="208322"/>
                  </a:lnTo>
                  <a:lnTo>
                    <a:pt x="12240" y="250213"/>
                  </a:lnTo>
                  <a:lnTo>
                    <a:pt x="3129" y="294318"/>
                  </a:lnTo>
                  <a:lnTo>
                    <a:pt x="0" y="340220"/>
                  </a:lnTo>
                  <a:lnTo>
                    <a:pt x="3129" y="386121"/>
                  </a:lnTo>
                  <a:lnTo>
                    <a:pt x="12240" y="430227"/>
                  </a:lnTo>
                  <a:lnTo>
                    <a:pt x="26913" y="472118"/>
                  </a:lnTo>
                  <a:lnTo>
                    <a:pt x="46729" y="511376"/>
                  </a:lnTo>
                  <a:lnTo>
                    <a:pt x="71271" y="547583"/>
                  </a:lnTo>
                  <a:lnTo>
                    <a:pt x="100120" y="580320"/>
                  </a:lnTo>
                  <a:lnTo>
                    <a:pt x="132857" y="609168"/>
                  </a:lnTo>
                  <a:lnTo>
                    <a:pt x="169064" y="633710"/>
                  </a:lnTo>
                  <a:lnTo>
                    <a:pt x="208323" y="653527"/>
                  </a:lnTo>
                  <a:lnTo>
                    <a:pt x="250214" y="668200"/>
                  </a:lnTo>
                  <a:lnTo>
                    <a:pt x="294319" y="677310"/>
                  </a:lnTo>
                  <a:lnTo>
                    <a:pt x="340221" y="680440"/>
                  </a:lnTo>
                  <a:lnTo>
                    <a:pt x="386122" y="677310"/>
                  </a:lnTo>
                  <a:lnTo>
                    <a:pt x="430228" y="668200"/>
                  </a:lnTo>
                  <a:lnTo>
                    <a:pt x="472119" y="653527"/>
                  </a:lnTo>
                  <a:lnTo>
                    <a:pt x="511377" y="633710"/>
                  </a:lnTo>
                  <a:lnTo>
                    <a:pt x="547584" y="609168"/>
                  </a:lnTo>
                  <a:lnTo>
                    <a:pt x="580321" y="580320"/>
                  </a:lnTo>
                  <a:lnTo>
                    <a:pt x="609170" y="547583"/>
                  </a:lnTo>
                  <a:lnTo>
                    <a:pt x="633711" y="511376"/>
                  </a:lnTo>
                  <a:lnTo>
                    <a:pt x="653528" y="472118"/>
                  </a:lnTo>
                  <a:lnTo>
                    <a:pt x="668201" y="430227"/>
                  </a:lnTo>
                  <a:lnTo>
                    <a:pt x="677312" y="386121"/>
                  </a:lnTo>
                  <a:lnTo>
                    <a:pt x="680441" y="340220"/>
                  </a:lnTo>
                  <a:lnTo>
                    <a:pt x="677312" y="294318"/>
                  </a:lnTo>
                  <a:lnTo>
                    <a:pt x="668201" y="250213"/>
                  </a:lnTo>
                  <a:lnTo>
                    <a:pt x="653528" y="208322"/>
                  </a:lnTo>
                  <a:lnTo>
                    <a:pt x="633711" y="169064"/>
                  </a:lnTo>
                  <a:lnTo>
                    <a:pt x="609170" y="132857"/>
                  </a:lnTo>
                  <a:lnTo>
                    <a:pt x="580321" y="100120"/>
                  </a:lnTo>
                  <a:lnTo>
                    <a:pt x="547584" y="71271"/>
                  </a:lnTo>
                  <a:lnTo>
                    <a:pt x="511377" y="46729"/>
                  </a:lnTo>
                  <a:lnTo>
                    <a:pt x="472119" y="26913"/>
                  </a:lnTo>
                  <a:lnTo>
                    <a:pt x="430228" y="12240"/>
                  </a:lnTo>
                  <a:lnTo>
                    <a:pt x="386122" y="3129"/>
                  </a:lnTo>
                  <a:lnTo>
                    <a:pt x="340221" y="0"/>
                  </a:lnTo>
                  <a:close/>
                </a:path>
              </a:pathLst>
            </a:custGeom>
            <a:solidFill>
              <a:srgbClr val="373A4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8558" y="2230285"/>
              <a:ext cx="306109" cy="306108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5438698" y="2945853"/>
            <a:ext cx="3063240" cy="1589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52576B"/>
                </a:solidFill>
                <a:latin typeface="Arial"/>
                <a:cs typeface="Arial"/>
              </a:rPr>
              <a:t>Loyalty</a:t>
            </a:r>
            <a:r>
              <a:rPr dirty="0" sz="2200" spc="-8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2576B"/>
                </a:solidFill>
                <a:latin typeface="Arial"/>
                <a:cs typeface="Arial"/>
              </a:rPr>
              <a:t>Programs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Reward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repeat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buyers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52576B"/>
                </a:solidFill>
                <a:latin typeface="Arial"/>
                <a:cs typeface="Arial"/>
              </a:rPr>
              <a:t>move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returning</a:t>
            </a:r>
            <a:r>
              <a:rPr dirty="0" sz="1750" spc="-8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customers</a:t>
            </a:r>
            <a:r>
              <a:rPr dirty="0" sz="1750" spc="-8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into</a:t>
            </a:r>
            <a:r>
              <a:rPr dirty="0" sz="1750" spc="-8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loyal segment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9636328" y="1804987"/>
            <a:ext cx="4204335" cy="2962910"/>
            <a:chOff x="9636328" y="1804987"/>
            <a:chExt cx="4204335" cy="2962910"/>
          </a:xfrm>
        </p:grpSpPr>
        <p:sp>
          <p:nvSpPr>
            <p:cNvPr id="16" name="object 16" descr=""/>
            <p:cNvSpPr/>
            <p:nvPr/>
          </p:nvSpPr>
          <p:spPr>
            <a:xfrm>
              <a:off x="9640137" y="1808797"/>
              <a:ext cx="4196715" cy="2955290"/>
            </a:xfrm>
            <a:custGeom>
              <a:avLst/>
              <a:gdLst/>
              <a:ahLst/>
              <a:cxnLst/>
              <a:rect l="l" t="t" r="r" b="b"/>
              <a:pathLst>
                <a:path w="4196715" h="2955290">
                  <a:moveTo>
                    <a:pt x="4101084" y="0"/>
                  </a:moveTo>
                  <a:lnTo>
                    <a:pt x="95277" y="0"/>
                  </a:lnTo>
                  <a:lnTo>
                    <a:pt x="58339" y="7537"/>
                  </a:lnTo>
                  <a:lnTo>
                    <a:pt x="28038" y="28040"/>
                  </a:lnTo>
                  <a:lnTo>
                    <a:pt x="7536" y="58341"/>
                  </a:lnTo>
                  <a:lnTo>
                    <a:pt x="0" y="95275"/>
                  </a:lnTo>
                  <a:lnTo>
                    <a:pt x="0" y="2859976"/>
                  </a:lnTo>
                  <a:lnTo>
                    <a:pt x="7536" y="2896910"/>
                  </a:lnTo>
                  <a:lnTo>
                    <a:pt x="28038" y="2927211"/>
                  </a:lnTo>
                  <a:lnTo>
                    <a:pt x="58339" y="2947714"/>
                  </a:lnTo>
                  <a:lnTo>
                    <a:pt x="95277" y="2955251"/>
                  </a:lnTo>
                  <a:lnTo>
                    <a:pt x="4101084" y="2955251"/>
                  </a:lnTo>
                  <a:lnTo>
                    <a:pt x="4138018" y="2947714"/>
                  </a:lnTo>
                  <a:lnTo>
                    <a:pt x="4168319" y="2927211"/>
                  </a:lnTo>
                  <a:lnTo>
                    <a:pt x="4188821" y="2896910"/>
                  </a:lnTo>
                  <a:lnTo>
                    <a:pt x="4196359" y="2859976"/>
                  </a:lnTo>
                  <a:lnTo>
                    <a:pt x="4196359" y="95275"/>
                  </a:lnTo>
                  <a:lnTo>
                    <a:pt x="4188821" y="58341"/>
                  </a:lnTo>
                  <a:lnTo>
                    <a:pt x="4168319" y="28040"/>
                  </a:lnTo>
                  <a:lnTo>
                    <a:pt x="4138018" y="7537"/>
                  </a:lnTo>
                  <a:lnTo>
                    <a:pt x="4101084" y="0"/>
                  </a:lnTo>
                  <a:close/>
                </a:path>
              </a:pathLst>
            </a:custGeom>
            <a:solidFill>
              <a:srgbClr val="E1E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640137" y="1808797"/>
              <a:ext cx="4196715" cy="2955290"/>
            </a:xfrm>
            <a:custGeom>
              <a:avLst/>
              <a:gdLst/>
              <a:ahLst/>
              <a:cxnLst/>
              <a:rect l="l" t="t" r="r" b="b"/>
              <a:pathLst>
                <a:path w="4196715" h="2955290">
                  <a:moveTo>
                    <a:pt x="0" y="95275"/>
                  </a:moveTo>
                  <a:lnTo>
                    <a:pt x="7536" y="58341"/>
                  </a:lnTo>
                  <a:lnTo>
                    <a:pt x="28038" y="28040"/>
                  </a:lnTo>
                  <a:lnTo>
                    <a:pt x="58339" y="7537"/>
                  </a:lnTo>
                  <a:lnTo>
                    <a:pt x="95277" y="0"/>
                  </a:lnTo>
                  <a:lnTo>
                    <a:pt x="4101084" y="0"/>
                  </a:lnTo>
                  <a:lnTo>
                    <a:pt x="4138018" y="7537"/>
                  </a:lnTo>
                  <a:lnTo>
                    <a:pt x="4168319" y="28040"/>
                  </a:lnTo>
                  <a:lnTo>
                    <a:pt x="4188821" y="58341"/>
                  </a:lnTo>
                  <a:lnTo>
                    <a:pt x="4196359" y="95275"/>
                  </a:lnTo>
                  <a:lnTo>
                    <a:pt x="4196359" y="2859976"/>
                  </a:lnTo>
                  <a:lnTo>
                    <a:pt x="4188821" y="2896910"/>
                  </a:lnTo>
                  <a:lnTo>
                    <a:pt x="4168319" y="2927211"/>
                  </a:lnTo>
                  <a:lnTo>
                    <a:pt x="4138018" y="2947714"/>
                  </a:lnTo>
                  <a:lnTo>
                    <a:pt x="4101084" y="2955251"/>
                  </a:lnTo>
                  <a:lnTo>
                    <a:pt x="95277" y="2955251"/>
                  </a:lnTo>
                  <a:lnTo>
                    <a:pt x="58339" y="2947714"/>
                  </a:lnTo>
                  <a:lnTo>
                    <a:pt x="28038" y="2927211"/>
                  </a:lnTo>
                  <a:lnTo>
                    <a:pt x="7536" y="2896910"/>
                  </a:lnTo>
                  <a:lnTo>
                    <a:pt x="0" y="2859976"/>
                  </a:lnTo>
                  <a:lnTo>
                    <a:pt x="0" y="95275"/>
                  </a:lnTo>
                  <a:close/>
                </a:path>
              </a:pathLst>
            </a:custGeom>
            <a:ln w="7619">
              <a:solidFill>
                <a:srgbClr val="C7C9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874567" y="2043226"/>
              <a:ext cx="680720" cy="680720"/>
            </a:xfrm>
            <a:custGeom>
              <a:avLst/>
              <a:gdLst/>
              <a:ahLst/>
              <a:cxnLst/>
              <a:rect l="l" t="t" r="r" b="b"/>
              <a:pathLst>
                <a:path w="680720" h="680719">
                  <a:moveTo>
                    <a:pt x="340221" y="0"/>
                  </a:moveTo>
                  <a:lnTo>
                    <a:pt x="294319" y="3129"/>
                  </a:lnTo>
                  <a:lnTo>
                    <a:pt x="250214" y="12240"/>
                  </a:lnTo>
                  <a:lnTo>
                    <a:pt x="208323" y="26913"/>
                  </a:lnTo>
                  <a:lnTo>
                    <a:pt x="169064" y="46729"/>
                  </a:lnTo>
                  <a:lnTo>
                    <a:pt x="132857" y="71271"/>
                  </a:lnTo>
                  <a:lnTo>
                    <a:pt x="100120" y="100120"/>
                  </a:lnTo>
                  <a:lnTo>
                    <a:pt x="71271" y="132857"/>
                  </a:lnTo>
                  <a:lnTo>
                    <a:pt x="46729" y="169064"/>
                  </a:lnTo>
                  <a:lnTo>
                    <a:pt x="26913" y="208322"/>
                  </a:lnTo>
                  <a:lnTo>
                    <a:pt x="12240" y="250213"/>
                  </a:lnTo>
                  <a:lnTo>
                    <a:pt x="3129" y="294318"/>
                  </a:lnTo>
                  <a:lnTo>
                    <a:pt x="0" y="340220"/>
                  </a:lnTo>
                  <a:lnTo>
                    <a:pt x="3129" y="386121"/>
                  </a:lnTo>
                  <a:lnTo>
                    <a:pt x="12240" y="430227"/>
                  </a:lnTo>
                  <a:lnTo>
                    <a:pt x="26913" y="472118"/>
                  </a:lnTo>
                  <a:lnTo>
                    <a:pt x="46729" y="511376"/>
                  </a:lnTo>
                  <a:lnTo>
                    <a:pt x="71271" y="547583"/>
                  </a:lnTo>
                  <a:lnTo>
                    <a:pt x="100120" y="580320"/>
                  </a:lnTo>
                  <a:lnTo>
                    <a:pt x="132857" y="609168"/>
                  </a:lnTo>
                  <a:lnTo>
                    <a:pt x="169064" y="633710"/>
                  </a:lnTo>
                  <a:lnTo>
                    <a:pt x="208323" y="653527"/>
                  </a:lnTo>
                  <a:lnTo>
                    <a:pt x="250214" y="668200"/>
                  </a:lnTo>
                  <a:lnTo>
                    <a:pt x="294319" y="677310"/>
                  </a:lnTo>
                  <a:lnTo>
                    <a:pt x="340221" y="680440"/>
                  </a:lnTo>
                  <a:lnTo>
                    <a:pt x="386122" y="677310"/>
                  </a:lnTo>
                  <a:lnTo>
                    <a:pt x="430228" y="668200"/>
                  </a:lnTo>
                  <a:lnTo>
                    <a:pt x="472119" y="653527"/>
                  </a:lnTo>
                  <a:lnTo>
                    <a:pt x="511377" y="633710"/>
                  </a:lnTo>
                  <a:lnTo>
                    <a:pt x="547584" y="609168"/>
                  </a:lnTo>
                  <a:lnTo>
                    <a:pt x="580321" y="580320"/>
                  </a:lnTo>
                  <a:lnTo>
                    <a:pt x="609170" y="547583"/>
                  </a:lnTo>
                  <a:lnTo>
                    <a:pt x="633711" y="511376"/>
                  </a:lnTo>
                  <a:lnTo>
                    <a:pt x="653528" y="472118"/>
                  </a:lnTo>
                  <a:lnTo>
                    <a:pt x="668201" y="430227"/>
                  </a:lnTo>
                  <a:lnTo>
                    <a:pt x="677312" y="386121"/>
                  </a:lnTo>
                  <a:lnTo>
                    <a:pt x="680441" y="340220"/>
                  </a:lnTo>
                  <a:lnTo>
                    <a:pt x="677312" y="294318"/>
                  </a:lnTo>
                  <a:lnTo>
                    <a:pt x="668201" y="250213"/>
                  </a:lnTo>
                  <a:lnTo>
                    <a:pt x="653528" y="208322"/>
                  </a:lnTo>
                  <a:lnTo>
                    <a:pt x="633711" y="169064"/>
                  </a:lnTo>
                  <a:lnTo>
                    <a:pt x="609170" y="132857"/>
                  </a:lnTo>
                  <a:lnTo>
                    <a:pt x="580321" y="100120"/>
                  </a:lnTo>
                  <a:lnTo>
                    <a:pt x="547584" y="71271"/>
                  </a:lnTo>
                  <a:lnTo>
                    <a:pt x="511377" y="46729"/>
                  </a:lnTo>
                  <a:lnTo>
                    <a:pt x="472119" y="26913"/>
                  </a:lnTo>
                  <a:lnTo>
                    <a:pt x="430228" y="12240"/>
                  </a:lnTo>
                  <a:lnTo>
                    <a:pt x="386122" y="3129"/>
                  </a:lnTo>
                  <a:lnTo>
                    <a:pt x="340221" y="0"/>
                  </a:lnTo>
                  <a:close/>
                </a:path>
              </a:pathLst>
            </a:custGeom>
            <a:solidFill>
              <a:srgbClr val="373A4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61739" y="2230285"/>
              <a:ext cx="306109" cy="306108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9861867" y="2945853"/>
            <a:ext cx="3322320" cy="1589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52576B"/>
                </a:solidFill>
                <a:latin typeface="Arial"/>
                <a:cs typeface="Arial"/>
              </a:rPr>
              <a:t>Review</a:t>
            </a:r>
            <a:r>
              <a:rPr dirty="0" sz="2200" spc="-7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52576B"/>
                </a:solidFill>
                <a:latin typeface="Arial"/>
                <a:cs typeface="Arial"/>
              </a:rPr>
              <a:t>Discount</a:t>
            </a:r>
            <a:r>
              <a:rPr dirty="0" sz="2200" spc="-7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2576B"/>
                </a:solidFill>
                <a:latin typeface="Arial"/>
                <a:cs typeface="Arial"/>
              </a:rPr>
              <a:t>Policy</a:t>
            </a:r>
            <a:endParaRPr sz="2200">
              <a:latin typeface="Arial"/>
              <a:cs typeface="Arial"/>
            </a:endParaRPr>
          </a:p>
          <a:p>
            <a:pPr algn="just" marL="12700" marR="5080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Balance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sales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boosts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with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margin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control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-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839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high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spenders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52576B"/>
                </a:solidFill>
                <a:latin typeface="Arial"/>
                <a:cs typeface="Arial"/>
              </a:rPr>
              <a:t>used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discounts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89979" y="4987048"/>
            <a:ext cx="6416040" cy="2600325"/>
            <a:chOff x="789979" y="4987048"/>
            <a:chExt cx="6416040" cy="2600325"/>
          </a:xfrm>
        </p:grpSpPr>
        <p:sp>
          <p:nvSpPr>
            <p:cNvPr id="22" name="object 22" descr=""/>
            <p:cNvSpPr/>
            <p:nvPr/>
          </p:nvSpPr>
          <p:spPr>
            <a:xfrm>
              <a:off x="793789" y="4990858"/>
              <a:ext cx="6408420" cy="2592705"/>
            </a:xfrm>
            <a:custGeom>
              <a:avLst/>
              <a:gdLst/>
              <a:ahLst/>
              <a:cxnLst/>
              <a:rect l="l" t="t" r="r" b="b"/>
              <a:pathLst>
                <a:path w="6408420" h="2592704">
                  <a:moveTo>
                    <a:pt x="6312674" y="0"/>
                  </a:moveTo>
                  <a:lnTo>
                    <a:pt x="95268" y="0"/>
                  </a:lnTo>
                  <a:lnTo>
                    <a:pt x="58334" y="7535"/>
                  </a:lnTo>
                  <a:lnTo>
                    <a:pt x="28035" y="28033"/>
                  </a:lnTo>
                  <a:lnTo>
                    <a:pt x="7536" y="58330"/>
                  </a:lnTo>
                  <a:lnTo>
                    <a:pt x="0" y="95262"/>
                  </a:lnTo>
                  <a:lnTo>
                    <a:pt x="0" y="2497074"/>
                  </a:lnTo>
                  <a:lnTo>
                    <a:pt x="7536" y="2534013"/>
                  </a:lnTo>
                  <a:lnTo>
                    <a:pt x="28035" y="2564314"/>
                  </a:lnTo>
                  <a:lnTo>
                    <a:pt x="58334" y="2584813"/>
                  </a:lnTo>
                  <a:lnTo>
                    <a:pt x="95268" y="2592349"/>
                  </a:lnTo>
                  <a:lnTo>
                    <a:pt x="6312674" y="2592349"/>
                  </a:lnTo>
                  <a:lnTo>
                    <a:pt x="6349608" y="2584813"/>
                  </a:lnTo>
                  <a:lnTo>
                    <a:pt x="6379910" y="2564314"/>
                  </a:lnTo>
                  <a:lnTo>
                    <a:pt x="6400412" y="2534013"/>
                  </a:lnTo>
                  <a:lnTo>
                    <a:pt x="6407950" y="2497074"/>
                  </a:lnTo>
                  <a:lnTo>
                    <a:pt x="6407950" y="95262"/>
                  </a:lnTo>
                  <a:lnTo>
                    <a:pt x="6400412" y="58330"/>
                  </a:lnTo>
                  <a:lnTo>
                    <a:pt x="6379910" y="28033"/>
                  </a:lnTo>
                  <a:lnTo>
                    <a:pt x="6349608" y="7535"/>
                  </a:lnTo>
                  <a:lnTo>
                    <a:pt x="6312674" y="0"/>
                  </a:lnTo>
                  <a:close/>
                </a:path>
              </a:pathLst>
            </a:custGeom>
            <a:solidFill>
              <a:srgbClr val="E1E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93789" y="4990858"/>
              <a:ext cx="6408420" cy="2592705"/>
            </a:xfrm>
            <a:custGeom>
              <a:avLst/>
              <a:gdLst/>
              <a:ahLst/>
              <a:cxnLst/>
              <a:rect l="l" t="t" r="r" b="b"/>
              <a:pathLst>
                <a:path w="6408420" h="2592704">
                  <a:moveTo>
                    <a:pt x="0" y="95262"/>
                  </a:moveTo>
                  <a:lnTo>
                    <a:pt x="7536" y="58330"/>
                  </a:lnTo>
                  <a:lnTo>
                    <a:pt x="28035" y="28033"/>
                  </a:lnTo>
                  <a:lnTo>
                    <a:pt x="58334" y="7535"/>
                  </a:lnTo>
                  <a:lnTo>
                    <a:pt x="95268" y="0"/>
                  </a:lnTo>
                  <a:lnTo>
                    <a:pt x="6312674" y="0"/>
                  </a:lnTo>
                  <a:lnTo>
                    <a:pt x="6349608" y="7535"/>
                  </a:lnTo>
                  <a:lnTo>
                    <a:pt x="6379910" y="28033"/>
                  </a:lnTo>
                  <a:lnTo>
                    <a:pt x="6400412" y="58330"/>
                  </a:lnTo>
                  <a:lnTo>
                    <a:pt x="6407950" y="95262"/>
                  </a:lnTo>
                  <a:lnTo>
                    <a:pt x="6407950" y="2497074"/>
                  </a:lnTo>
                  <a:lnTo>
                    <a:pt x="6400412" y="2534013"/>
                  </a:lnTo>
                  <a:lnTo>
                    <a:pt x="6379910" y="2564314"/>
                  </a:lnTo>
                  <a:lnTo>
                    <a:pt x="6349608" y="2584813"/>
                  </a:lnTo>
                  <a:lnTo>
                    <a:pt x="6312674" y="2592349"/>
                  </a:lnTo>
                  <a:lnTo>
                    <a:pt x="95268" y="2592349"/>
                  </a:lnTo>
                  <a:lnTo>
                    <a:pt x="58334" y="2584813"/>
                  </a:lnTo>
                  <a:lnTo>
                    <a:pt x="28035" y="2564314"/>
                  </a:lnTo>
                  <a:lnTo>
                    <a:pt x="7536" y="2534013"/>
                  </a:lnTo>
                  <a:lnTo>
                    <a:pt x="0" y="2497074"/>
                  </a:lnTo>
                  <a:lnTo>
                    <a:pt x="0" y="95262"/>
                  </a:lnTo>
                  <a:close/>
                </a:path>
              </a:pathLst>
            </a:custGeom>
            <a:ln w="7619">
              <a:solidFill>
                <a:srgbClr val="C7C9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028223" y="5225300"/>
              <a:ext cx="680720" cy="680720"/>
            </a:xfrm>
            <a:custGeom>
              <a:avLst/>
              <a:gdLst/>
              <a:ahLst/>
              <a:cxnLst/>
              <a:rect l="l" t="t" r="r" b="b"/>
              <a:pathLst>
                <a:path w="680719" h="680720">
                  <a:moveTo>
                    <a:pt x="340221" y="0"/>
                  </a:moveTo>
                  <a:lnTo>
                    <a:pt x="294319" y="3129"/>
                  </a:lnTo>
                  <a:lnTo>
                    <a:pt x="250214" y="12240"/>
                  </a:lnTo>
                  <a:lnTo>
                    <a:pt x="208323" y="26913"/>
                  </a:lnTo>
                  <a:lnTo>
                    <a:pt x="169064" y="46729"/>
                  </a:lnTo>
                  <a:lnTo>
                    <a:pt x="132857" y="71271"/>
                  </a:lnTo>
                  <a:lnTo>
                    <a:pt x="100120" y="100120"/>
                  </a:lnTo>
                  <a:lnTo>
                    <a:pt x="71271" y="132857"/>
                  </a:lnTo>
                  <a:lnTo>
                    <a:pt x="46729" y="169064"/>
                  </a:lnTo>
                  <a:lnTo>
                    <a:pt x="26913" y="208322"/>
                  </a:lnTo>
                  <a:lnTo>
                    <a:pt x="12240" y="250213"/>
                  </a:lnTo>
                  <a:lnTo>
                    <a:pt x="3129" y="294318"/>
                  </a:lnTo>
                  <a:lnTo>
                    <a:pt x="0" y="340220"/>
                  </a:lnTo>
                  <a:lnTo>
                    <a:pt x="3129" y="386121"/>
                  </a:lnTo>
                  <a:lnTo>
                    <a:pt x="12240" y="430227"/>
                  </a:lnTo>
                  <a:lnTo>
                    <a:pt x="26913" y="472118"/>
                  </a:lnTo>
                  <a:lnTo>
                    <a:pt x="46729" y="511376"/>
                  </a:lnTo>
                  <a:lnTo>
                    <a:pt x="71271" y="547583"/>
                  </a:lnTo>
                  <a:lnTo>
                    <a:pt x="100120" y="580320"/>
                  </a:lnTo>
                  <a:lnTo>
                    <a:pt x="132857" y="609168"/>
                  </a:lnTo>
                  <a:lnTo>
                    <a:pt x="169064" y="633710"/>
                  </a:lnTo>
                  <a:lnTo>
                    <a:pt x="208323" y="653527"/>
                  </a:lnTo>
                  <a:lnTo>
                    <a:pt x="250214" y="668200"/>
                  </a:lnTo>
                  <a:lnTo>
                    <a:pt x="294319" y="677310"/>
                  </a:lnTo>
                  <a:lnTo>
                    <a:pt x="340221" y="680440"/>
                  </a:lnTo>
                  <a:lnTo>
                    <a:pt x="386122" y="677310"/>
                  </a:lnTo>
                  <a:lnTo>
                    <a:pt x="430228" y="668200"/>
                  </a:lnTo>
                  <a:lnTo>
                    <a:pt x="472119" y="653527"/>
                  </a:lnTo>
                  <a:lnTo>
                    <a:pt x="511377" y="633710"/>
                  </a:lnTo>
                  <a:lnTo>
                    <a:pt x="547584" y="609168"/>
                  </a:lnTo>
                  <a:lnTo>
                    <a:pt x="580321" y="580320"/>
                  </a:lnTo>
                  <a:lnTo>
                    <a:pt x="609170" y="547583"/>
                  </a:lnTo>
                  <a:lnTo>
                    <a:pt x="633711" y="511376"/>
                  </a:lnTo>
                  <a:lnTo>
                    <a:pt x="653528" y="472118"/>
                  </a:lnTo>
                  <a:lnTo>
                    <a:pt x="668201" y="430227"/>
                  </a:lnTo>
                  <a:lnTo>
                    <a:pt x="677312" y="386121"/>
                  </a:lnTo>
                  <a:lnTo>
                    <a:pt x="680441" y="340220"/>
                  </a:lnTo>
                  <a:lnTo>
                    <a:pt x="677312" y="294318"/>
                  </a:lnTo>
                  <a:lnTo>
                    <a:pt x="668201" y="250213"/>
                  </a:lnTo>
                  <a:lnTo>
                    <a:pt x="653528" y="208322"/>
                  </a:lnTo>
                  <a:lnTo>
                    <a:pt x="633711" y="169064"/>
                  </a:lnTo>
                  <a:lnTo>
                    <a:pt x="609170" y="132857"/>
                  </a:lnTo>
                  <a:lnTo>
                    <a:pt x="580321" y="100120"/>
                  </a:lnTo>
                  <a:lnTo>
                    <a:pt x="547584" y="71271"/>
                  </a:lnTo>
                  <a:lnTo>
                    <a:pt x="511377" y="46729"/>
                  </a:lnTo>
                  <a:lnTo>
                    <a:pt x="472119" y="26913"/>
                  </a:lnTo>
                  <a:lnTo>
                    <a:pt x="430228" y="12240"/>
                  </a:lnTo>
                  <a:lnTo>
                    <a:pt x="386122" y="3129"/>
                  </a:lnTo>
                  <a:lnTo>
                    <a:pt x="340221" y="0"/>
                  </a:lnTo>
                  <a:close/>
                </a:path>
              </a:pathLst>
            </a:custGeom>
            <a:solidFill>
              <a:srgbClr val="373A4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5390" y="5412346"/>
              <a:ext cx="306109" cy="306108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1015523" y="6127915"/>
            <a:ext cx="5646420" cy="1227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52576B"/>
                </a:solidFill>
                <a:latin typeface="Arial"/>
                <a:cs typeface="Arial"/>
              </a:rPr>
              <a:t>Targeted</a:t>
            </a:r>
            <a:r>
              <a:rPr dirty="0" sz="2200" spc="-114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2576B"/>
                </a:solidFill>
                <a:latin typeface="Arial"/>
                <a:cs typeface="Arial"/>
              </a:rPr>
              <a:t>Marketing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Focus</a:t>
            </a:r>
            <a:r>
              <a:rPr dirty="0" sz="17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on</a:t>
            </a:r>
            <a:r>
              <a:rPr dirty="0" sz="17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52576B"/>
                </a:solidFill>
                <a:latin typeface="Arial"/>
                <a:cs typeface="Arial"/>
              </a:rPr>
              <a:t>high-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revenue</a:t>
            </a:r>
            <a:r>
              <a:rPr dirty="0" sz="17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age</a:t>
            </a:r>
            <a:r>
              <a:rPr dirty="0" sz="17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groups</a:t>
            </a:r>
            <a:r>
              <a:rPr dirty="0" sz="17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7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52576B"/>
                </a:solidFill>
                <a:latin typeface="Arial"/>
                <a:cs typeface="Arial"/>
              </a:rPr>
              <a:t>express-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shipping users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7424737" y="4987048"/>
            <a:ext cx="6416040" cy="2600325"/>
            <a:chOff x="7424737" y="4987048"/>
            <a:chExt cx="6416040" cy="2600325"/>
          </a:xfrm>
        </p:grpSpPr>
        <p:sp>
          <p:nvSpPr>
            <p:cNvPr id="28" name="object 28" descr=""/>
            <p:cNvSpPr/>
            <p:nvPr/>
          </p:nvSpPr>
          <p:spPr>
            <a:xfrm>
              <a:off x="7428547" y="4990858"/>
              <a:ext cx="6408420" cy="2592705"/>
            </a:xfrm>
            <a:custGeom>
              <a:avLst/>
              <a:gdLst/>
              <a:ahLst/>
              <a:cxnLst/>
              <a:rect l="l" t="t" r="r" b="b"/>
              <a:pathLst>
                <a:path w="6408419" h="2592704">
                  <a:moveTo>
                    <a:pt x="6312674" y="0"/>
                  </a:moveTo>
                  <a:lnTo>
                    <a:pt x="95268" y="0"/>
                  </a:lnTo>
                  <a:lnTo>
                    <a:pt x="58334" y="7535"/>
                  </a:lnTo>
                  <a:lnTo>
                    <a:pt x="28035" y="28033"/>
                  </a:lnTo>
                  <a:lnTo>
                    <a:pt x="7536" y="58330"/>
                  </a:lnTo>
                  <a:lnTo>
                    <a:pt x="0" y="95262"/>
                  </a:lnTo>
                  <a:lnTo>
                    <a:pt x="0" y="2497074"/>
                  </a:lnTo>
                  <a:lnTo>
                    <a:pt x="7536" y="2534013"/>
                  </a:lnTo>
                  <a:lnTo>
                    <a:pt x="28035" y="2564314"/>
                  </a:lnTo>
                  <a:lnTo>
                    <a:pt x="58334" y="2584813"/>
                  </a:lnTo>
                  <a:lnTo>
                    <a:pt x="95268" y="2592349"/>
                  </a:lnTo>
                  <a:lnTo>
                    <a:pt x="6312674" y="2592349"/>
                  </a:lnTo>
                  <a:lnTo>
                    <a:pt x="6349608" y="2584813"/>
                  </a:lnTo>
                  <a:lnTo>
                    <a:pt x="6379910" y="2564314"/>
                  </a:lnTo>
                  <a:lnTo>
                    <a:pt x="6400412" y="2534013"/>
                  </a:lnTo>
                  <a:lnTo>
                    <a:pt x="6407950" y="2497074"/>
                  </a:lnTo>
                  <a:lnTo>
                    <a:pt x="6407950" y="95262"/>
                  </a:lnTo>
                  <a:lnTo>
                    <a:pt x="6400412" y="58330"/>
                  </a:lnTo>
                  <a:lnTo>
                    <a:pt x="6379910" y="28033"/>
                  </a:lnTo>
                  <a:lnTo>
                    <a:pt x="6349608" y="7535"/>
                  </a:lnTo>
                  <a:lnTo>
                    <a:pt x="6312674" y="0"/>
                  </a:lnTo>
                  <a:close/>
                </a:path>
              </a:pathLst>
            </a:custGeom>
            <a:solidFill>
              <a:srgbClr val="E1E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428547" y="4990858"/>
              <a:ext cx="6408420" cy="2592705"/>
            </a:xfrm>
            <a:custGeom>
              <a:avLst/>
              <a:gdLst/>
              <a:ahLst/>
              <a:cxnLst/>
              <a:rect l="l" t="t" r="r" b="b"/>
              <a:pathLst>
                <a:path w="6408419" h="2592704">
                  <a:moveTo>
                    <a:pt x="0" y="95262"/>
                  </a:moveTo>
                  <a:lnTo>
                    <a:pt x="7536" y="58330"/>
                  </a:lnTo>
                  <a:lnTo>
                    <a:pt x="28035" y="28033"/>
                  </a:lnTo>
                  <a:lnTo>
                    <a:pt x="58334" y="7535"/>
                  </a:lnTo>
                  <a:lnTo>
                    <a:pt x="95268" y="0"/>
                  </a:lnTo>
                  <a:lnTo>
                    <a:pt x="6312674" y="0"/>
                  </a:lnTo>
                  <a:lnTo>
                    <a:pt x="6349608" y="7535"/>
                  </a:lnTo>
                  <a:lnTo>
                    <a:pt x="6379910" y="28033"/>
                  </a:lnTo>
                  <a:lnTo>
                    <a:pt x="6400412" y="58330"/>
                  </a:lnTo>
                  <a:lnTo>
                    <a:pt x="6407950" y="95262"/>
                  </a:lnTo>
                  <a:lnTo>
                    <a:pt x="6407950" y="2497074"/>
                  </a:lnTo>
                  <a:lnTo>
                    <a:pt x="6400412" y="2534013"/>
                  </a:lnTo>
                  <a:lnTo>
                    <a:pt x="6379910" y="2564314"/>
                  </a:lnTo>
                  <a:lnTo>
                    <a:pt x="6349608" y="2584813"/>
                  </a:lnTo>
                  <a:lnTo>
                    <a:pt x="6312674" y="2592349"/>
                  </a:lnTo>
                  <a:lnTo>
                    <a:pt x="95268" y="2592349"/>
                  </a:lnTo>
                  <a:lnTo>
                    <a:pt x="58334" y="2584813"/>
                  </a:lnTo>
                  <a:lnTo>
                    <a:pt x="28035" y="2564314"/>
                  </a:lnTo>
                  <a:lnTo>
                    <a:pt x="7536" y="2534013"/>
                  </a:lnTo>
                  <a:lnTo>
                    <a:pt x="0" y="2497074"/>
                  </a:lnTo>
                  <a:lnTo>
                    <a:pt x="0" y="95262"/>
                  </a:lnTo>
                  <a:close/>
                </a:path>
              </a:pathLst>
            </a:custGeom>
            <a:ln w="7619">
              <a:solidFill>
                <a:srgbClr val="C7C9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662976" y="5225300"/>
              <a:ext cx="680720" cy="680720"/>
            </a:xfrm>
            <a:custGeom>
              <a:avLst/>
              <a:gdLst/>
              <a:ahLst/>
              <a:cxnLst/>
              <a:rect l="l" t="t" r="r" b="b"/>
              <a:pathLst>
                <a:path w="680720" h="680720">
                  <a:moveTo>
                    <a:pt x="340221" y="0"/>
                  </a:moveTo>
                  <a:lnTo>
                    <a:pt x="294319" y="3129"/>
                  </a:lnTo>
                  <a:lnTo>
                    <a:pt x="250214" y="12240"/>
                  </a:lnTo>
                  <a:lnTo>
                    <a:pt x="208323" y="26913"/>
                  </a:lnTo>
                  <a:lnTo>
                    <a:pt x="169064" y="46729"/>
                  </a:lnTo>
                  <a:lnTo>
                    <a:pt x="132857" y="71271"/>
                  </a:lnTo>
                  <a:lnTo>
                    <a:pt x="100120" y="100120"/>
                  </a:lnTo>
                  <a:lnTo>
                    <a:pt x="71271" y="132857"/>
                  </a:lnTo>
                  <a:lnTo>
                    <a:pt x="46729" y="169064"/>
                  </a:lnTo>
                  <a:lnTo>
                    <a:pt x="26913" y="208322"/>
                  </a:lnTo>
                  <a:lnTo>
                    <a:pt x="12240" y="250213"/>
                  </a:lnTo>
                  <a:lnTo>
                    <a:pt x="3129" y="294318"/>
                  </a:lnTo>
                  <a:lnTo>
                    <a:pt x="0" y="340220"/>
                  </a:lnTo>
                  <a:lnTo>
                    <a:pt x="3129" y="386121"/>
                  </a:lnTo>
                  <a:lnTo>
                    <a:pt x="12240" y="430227"/>
                  </a:lnTo>
                  <a:lnTo>
                    <a:pt x="26913" y="472118"/>
                  </a:lnTo>
                  <a:lnTo>
                    <a:pt x="46729" y="511376"/>
                  </a:lnTo>
                  <a:lnTo>
                    <a:pt x="71271" y="547583"/>
                  </a:lnTo>
                  <a:lnTo>
                    <a:pt x="100120" y="580320"/>
                  </a:lnTo>
                  <a:lnTo>
                    <a:pt x="132857" y="609168"/>
                  </a:lnTo>
                  <a:lnTo>
                    <a:pt x="169064" y="633710"/>
                  </a:lnTo>
                  <a:lnTo>
                    <a:pt x="208323" y="653527"/>
                  </a:lnTo>
                  <a:lnTo>
                    <a:pt x="250214" y="668200"/>
                  </a:lnTo>
                  <a:lnTo>
                    <a:pt x="294319" y="677310"/>
                  </a:lnTo>
                  <a:lnTo>
                    <a:pt x="340221" y="680440"/>
                  </a:lnTo>
                  <a:lnTo>
                    <a:pt x="386122" y="677310"/>
                  </a:lnTo>
                  <a:lnTo>
                    <a:pt x="430228" y="668200"/>
                  </a:lnTo>
                  <a:lnTo>
                    <a:pt x="472119" y="653527"/>
                  </a:lnTo>
                  <a:lnTo>
                    <a:pt x="511377" y="633710"/>
                  </a:lnTo>
                  <a:lnTo>
                    <a:pt x="547584" y="609168"/>
                  </a:lnTo>
                  <a:lnTo>
                    <a:pt x="580321" y="580320"/>
                  </a:lnTo>
                  <a:lnTo>
                    <a:pt x="609170" y="547583"/>
                  </a:lnTo>
                  <a:lnTo>
                    <a:pt x="633711" y="511376"/>
                  </a:lnTo>
                  <a:lnTo>
                    <a:pt x="653528" y="472118"/>
                  </a:lnTo>
                  <a:lnTo>
                    <a:pt x="668201" y="430227"/>
                  </a:lnTo>
                  <a:lnTo>
                    <a:pt x="677312" y="386121"/>
                  </a:lnTo>
                  <a:lnTo>
                    <a:pt x="680441" y="340220"/>
                  </a:lnTo>
                  <a:lnTo>
                    <a:pt x="677312" y="294318"/>
                  </a:lnTo>
                  <a:lnTo>
                    <a:pt x="668201" y="250213"/>
                  </a:lnTo>
                  <a:lnTo>
                    <a:pt x="653528" y="208322"/>
                  </a:lnTo>
                  <a:lnTo>
                    <a:pt x="633711" y="169064"/>
                  </a:lnTo>
                  <a:lnTo>
                    <a:pt x="609170" y="132857"/>
                  </a:lnTo>
                  <a:lnTo>
                    <a:pt x="580321" y="100120"/>
                  </a:lnTo>
                  <a:lnTo>
                    <a:pt x="547584" y="71271"/>
                  </a:lnTo>
                  <a:lnTo>
                    <a:pt x="511377" y="46729"/>
                  </a:lnTo>
                  <a:lnTo>
                    <a:pt x="472119" y="26913"/>
                  </a:lnTo>
                  <a:lnTo>
                    <a:pt x="430228" y="12240"/>
                  </a:lnTo>
                  <a:lnTo>
                    <a:pt x="386122" y="3129"/>
                  </a:lnTo>
                  <a:lnTo>
                    <a:pt x="340221" y="0"/>
                  </a:lnTo>
                  <a:close/>
                </a:path>
              </a:pathLst>
            </a:custGeom>
            <a:solidFill>
              <a:srgbClr val="373A4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50149" y="5412346"/>
              <a:ext cx="306109" cy="306108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7650276" y="6127915"/>
            <a:ext cx="5112385" cy="1227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52576B"/>
                </a:solidFill>
                <a:latin typeface="Arial"/>
                <a:cs typeface="Arial"/>
              </a:rPr>
              <a:t>Product</a:t>
            </a:r>
            <a:r>
              <a:rPr dirty="0" sz="2200" spc="-9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52576B"/>
                </a:solidFill>
                <a:latin typeface="Arial"/>
                <a:cs typeface="Arial"/>
              </a:rPr>
              <a:t>Positioning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Highlight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52576B"/>
                </a:solidFill>
                <a:latin typeface="Arial"/>
                <a:cs typeface="Arial"/>
              </a:rPr>
              <a:t>top-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rated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items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like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Gloves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Sandals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52576B"/>
                </a:solidFill>
                <a:latin typeface="Arial"/>
                <a:cs typeface="Arial"/>
              </a:rPr>
              <a:t>in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campaigns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2025-11-18T02:36:20Z</dcterms:created>
  <dcterms:modified xsi:type="dcterms:W3CDTF">2025-11-18T02:36:20Z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2025-11-18T00:00:00Z</vt:filetime>
  </property>
  <property fmtid="{D5CDD505-2E9C-101B-9397-08002B2CF9AE}" pid="3" name="LastSaved">
    <vt:filetime>2025-11-18T00:00:00Z</vt:filetime>
  </property>
  <property fmtid="{D5CDD505-2E9C-101B-9397-08002B2CF9AE}" pid="4" name="Producer">
    <vt:lpwstr>3-Heights(TM) PDF Security Shell 4.8.25.2 (http://www.pdf-tools.com)</vt:lpwstr>
  </property>
</Properties>
</file>